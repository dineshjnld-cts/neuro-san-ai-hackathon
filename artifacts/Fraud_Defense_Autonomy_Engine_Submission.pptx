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>
    <a:defPPr/>
    <a:lvl1pPr marL="0" algn="l">
      <a:defRPr sz="16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txStyles>
    <p:titleStyle>
      <a:lvl1pPr marL="0" algn="l">
        <a:defRPr sz="3600"/>
      </a:lvl1pPr>
    </p:titleStyle>
    <p:bodyStyle/>
    <p:otherStyle/>
  </p:txStyles>
  <p:timing/>
  <p:extLst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rgbClr val="0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ro-eyebrow"/>
          <p:cNvSpPr/>
          <p:nvPr/>
        </p:nvSpPr>
        <p:spPr>
          <a:xfrm>
            <a:off x="685800" y="4381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5AD4C7"/>
                </a:solidFill>
                <a:latin typeface="Aptos"/>
              </a:defRPr>
            </a:pPr>
            <a:r>
              <a:rPr lang="en-US" sz="1200" b="1">
                <a:solidFill>
                  <a:srgbClr val="5AD4C7"/>
                </a:solidFill>
                <a:latin typeface="Aptos"/>
              </a:rPr>
              <a:t>COGNIZANT NA BFS  /  HACKATHON SUBMISSION</a:t>
            </a:r>
            <a:endParaRPr lang="en-US" sz="1200"/>
          </a:p>
        </p:txBody>
      </p:sp>
      <p:sp>
        <p:nvSpPr>
          <p:cNvPr id="11" name="hero-title"/>
          <p:cNvSpPr/>
          <p:nvPr/>
        </p:nvSpPr>
        <p:spPr>
          <a:xfrm>
            <a:off x="685800" y="1123950"/>
            <a:ext cx="5810250" cy="1162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5200" b="1">
                <a:solidFill>
                  <a:srgbClr val="F4F8F8"/>
                </a:solidFill>
                <a:latin typeface="Aptos"/>
              </a:defRPr>
            </a:pPr>
            <a:r>
              <a:rPr lang="en-US" sz="5200" b="1">
                <a:solidFill>
                  <a:srgbClr val="F4F8F8"/>
                </a:solidFill>
                <a:latin typeface="Aptos"/>
              </a:rPr>
              <a:t>Fraud Defense</a:t>
            </a:r>
            <a:endParaRPr lang="en-US" sz="5200"/>
          </a:p>
          <a:p>
            <a:pPr algn="l">
              <a:defRPr sz="5200" b="1" i="1">
                <a:solidFill>
                  <a:srgbClr val="5AD4C7"/>
                </a:solidFill>
                <a:latin typeface="Aptos"/>
              </a:defRPr>
            </a:pPr>
            <a:r>
              <a:rPr lang="en-US" sz="5200" b="1" i="1">
                <a:solidFill>
                  <a:srgbClr val="5AD4C7"/>
                </a:solidFill>
                <a:latin typeface="Aptos"/>
              </a:rPr>
              <a:t>Autonomy Engine</a:t>
            </a:r>
            <a:endParaRPr lang="en-US" sz="5200"/>
          </a:p>
        </p:txBody>
      </p:sp>
      <p:sp>
        <p:nvSpPr>
          <p:cNvPr id="12" name="hero-lede"/>
          <p:cNvSpPr/>
          <p:nvPr/>
        </p:nvSpPr>
        <p:spPr>
          <a:xfrm>
            <a:off x="723900" y="2571750"/>
            <a:ext cx="49530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2000">
                <a:solidFill>
                  <a:srgbClr val="A8C1C3"/>
                </a:solidFill>
                <a:latin typeface="Aptos"/>
              </a:defRPr>
            </a:pPr>
            <a:r>
              <a:rPr lang="en-US" sz="2000">
                <a:solidFill>
                  <a:srgbClr val="A8C1C3"/>
                </a:solidFill>
                <a:latin typeface="Aptos"/>
              </a:rPr>
              <a:t>A governed investigation loop that finds the signal, invites the attacker, tests the defense, and earns the right to act.</a:t>
            </a:r>
            <a:endParaRPr lang="en-US" sz="2000"/>
          </a:p>
        </p:txBody>
      </p:sp>
      <p:sp>
        <p:nvSpPr>
          <p:cNvPr id="13" name="pill-OPEN WAR ROOM"/>
          <p:cNvSpPr/>
          <p:nvPr/>
        </p:nvSpPr>
        <p:spPr>
          <a:xfrm>
            <a:off x="723900" y="3638550"/>
            <a:ext cx="1619250" cy="247650"/>
          </a:xfrm>
          <a:prstGeom prst="roundRect">
            <a:avLst/>
          </a:prstGeom>
          <a:solidFill>
            <a:srgbClr val="5AD4C7"/>
          </a:solidFill>
          <a:ln>
            <a:noFill/>
          </a:ln>
        </p:spPr>
      </p:sp>
      <p:sp>
        <p:nvSpPr>
          <p:cNvPr id="14" name="pill-label-OPEN WAR ROOM"/>
          <p:cNvSpPr/>
          <p:nvPr/>
        </p:nvSpPr>
        <p:spPr>
          <a:xfrm>
            <a:off x="800100" y="3686175"/>
            <a:ext cx="14668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000" b="1">
                <a:solidFill>
                  <a:srgbClr val="071B22"/>
                </a:solidFill>
                <a:latin typeface="Aptos"/>
              </a:defRPr>
            </a:pPr>
            <a:r>
              <a:rPr lang="en-US" sz="1000" b="1">
                <a:solidFill>
                  <a:srgbClr val="071B22"/>
                </a:solidFill>
                <a:latin typeface="Aptos"/>
              </a:rPr>
              <a:t>OPEN WAR ROOM</a:t>
            </a:r>
            <a:endParaRPr lang="en-US" sz="1000"/>
          </a:p>
        </p:txBody>
      </p:sp>
      <p:sp>
        <p:nvSpPr>
          <p:cNvPr id="15" name="pill-6-SLIDE STORY"/>
          <p:cNvSpPr/>
          <p:nvPr/>
        </p:nvSpPr>
        <p:spPr>
          <a:xfrm>
            <a:off x="2476500" y="3638550"/>
            <a:ext cx="1428750" cy="247650"/>
          </a:xfrm>
          <a:prstGeom prst="roundRect">
            <a:avLst/>
          </a:prstGeom>
          <a:solidFill>
            <a:srgbClr val="12343E"/>
          </a:solidFill>
          <a:ln>
            <a:noFill/>
          </a:ln>
        </p:spPr>
      </p:sp>
      <p:sp>
        <p:nvSpPr>
          <p:cNvPr id="16" name="pill-label-6-SLIDE STORY"/>
          <p:cNvSpPr/>
          <p:nvPr/>
        </p:nvSpPr>
        <p:spPr>
          <a:xfrm>
            <a:off x="2552700" y="3686175"/>
            <a:ext cx="12763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000" b="1">
                <a:solidFill>
                  <a:srgbClr val="5AD4C7"/>
                </a:solidFill>
                <a:latin typeface="Aptos"/>
              </a:defRPr>
            </a:pPr>
            <a:r>
              <a:rPr lang="en-US" sz="1000" b="1">
                <a:solidFill>
                  <a:srgbClr val="5AD4C7"/>
                </a:solidFill>
                <a:latin typeface="Aptos"/>
              </a:rPr>
              <a:t>6-SLIDE STORY</a:t>
            </a:r>
            <a:endParaRPr lang="en-US" sz="1000"/>
          </a:p>
        </p:txBody>
      </p:sp>
      <p:sp>
        <p:nvSpPr>
          <p:cNvPr id="17" name="hero-footnote"/>
          <p:cNvSpPr/>
          <p:nvPr/>
        </p:nvSpPr>
        <p:spPr>
          <a:xfrm>
            <a:off x="723900" y="4171950"/>
            <a:ext cx="5143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>
                <a:solidFill>
                  <a:srgbClr val="A8C1C3"/>
                </a:solidFill>
                <a:latin typeface="Aptos"/>
              </a:defRPr>
            </a:pPr>
            <a:r>
              <a:rPr lang="en-US" sz="1200">
                <a:solidFill>
                  <a:srgbClr val="A8C1C3"/>
                </a:solidFill>
                <a:latin typeface="Aptos"/>
              </a:rPr>
              <a:t>Synthetic banking environment  ·  600 reproducible cases  ·  zero production execution</a:t>
            </a:r>
            <a:endParaRPr lang="en-US" sz="1200"/>
          </a:p>
        </p:txBody>
      </p:sp>
      <p:sp>
        <p:nvSpPr>
          <p:cNvPr id="18" name="hero-outer-orbit"/>
          <p:cNvSpPr/>
          <p:nvPr/>
        </p:nvSpPr>
        <p:spPr>
          <a:xfrm>
            <a:off x="7239000" y="895350"/>
            <a:ext cx="3581400" cy="3581400"/>
          </a:xfrm>
          <a:prstGeom prst="ellipse">
            <a:avLst/>
          </a:prstGeom>
          <a:noFill/>
          <a:ln w="9525">
            <a:solidFill>
              <a:srgbClr val="2A535C"/>
            </a:solidFill>
            <a:prstDash val="solid"/>
          </a:ln>
        </p:spPr>
      </p:sp>
      <p:sp>
        <p:nvSpPr>
          <p:cNvPr id="19" name="hero-inner-orbit"/>
          <p:cNvSpPr/>
          <p:nvPr/>
        </p:nvSpPr>
        <p:spPr>
          <a:xfrm>
            <a:off x="7705725" y="1362075"/>
            <a:ext cx="2647950" cy="2647950"/>
          </a:xfrm>
          <a:prstGeom prst="ellipse">
            <a:avLst/>
          </a:prstGeom>
          <a:noFill/>
          <a:ln w="9525">
            <a:solidFill>
              <a:srgbClr val="5AD4C7"/>
            </a:solidFill>
            <a:prstDash val="solid"/>
          </a:ln>
        </p:spPr>
      </p:sp>
      <p:sp>
        <p:nvSpPr>
          <p:cNvPr id="20" name="hero-core"/>
          <p:cNvSpPr/>
          <p:nvPr/>
        </p:nvSpPr>
        <p:spPr>
          <a:xfrm>
            <a:off x="8020050" y="1676400"/>
            <a:ext cx="2019300" cy="2019300"/>
          </a:xfrm>
          <a:prstGeom prst="ellipse">
            <a:avLst/>
          </a:prstGeom>
          <a:solidFill>
            <a:srgbClr val="0D2932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21" name="hero-case-label"/>
          <p:cNvSpPr/>
          <p:nvPr/>
        </p:nvSpPr>
        <p:spPr>
          <a:xfrm>
            <a:off x="8401050" y="2181225"/>
            <a:ext cx="1257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300" b="1">
                <a:solidFill>
                  <a:srgbClr val="A8C1C3"/>
                </a:solidFill>
                <a:latin typeface="Aptos"/>
              </a:defRPr>
            </a:pPr>
            <a:r>
              <a:rPr lang="en-US" sz="1300" b="1">
                <a:solidFill>
                  <a:srgbClr val="A8C1C3"/>
                </a:solidFill>
                <a:latin typeface="Aptos"/>
              </a:rPr>
              <a:t>CASE</a:t>
            </a:r>
            <a:endParaRPr lang="en-US" sz="1300"/>
          </a:p>
        </p:txBody>
      </p:sp>
      <p:sp>
        <p:nvSpPr>
          <p:cNvPr id="22" name="hero-case-id"/>
          <p:cNvSpPr/>
          <p:nvPr/>
        </p:nvSpPr>
        <p:spPr>
          <a:xfrm>
            <a:off x="8143875" y="2381250"/>
            <a:ext cx="17716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4300" b="1">
                <a:solidFill>
                  <a:srgbClr val="F4F8F8"/>
                </a:solidFill>
                <a:latin typeface="Aptos"/>
              </a:defRPr>
            </a:pPr>
            <a:r>
              <a:rPr lang="en-US" sz="4300" b="1">
                <a:solidFill>
                  <a:srgbClr val="F4F8F8"/>
                </a:solidFill>
                <a:latin typeface="Aptos"/>
              </a:rPr>
              <a:t>0001</a:t>
            </a:r>
            <a:endParaRPr lang="en-US" sz="4300"/>
          </a:p>
        </p:txBody>
      </p:sp>
      <p:sp>
        <p:nvSpPr>
          <p:cNvPr id="23" name="hero-case-risk"/>
          <p:cNvSpPr/>
          <p:nvPr/>
        </p:nvSpPr>
        <p:spPr>
          <a:xfrm>
            <a:off x="8382000" y="3028950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F05A5B"/>
                </a:solidFill>
                <a:latin typeface="Aptos"/>
              </a:defRPr>
            </a:pPr>
            <a:r>
              <a:rPr lang="en-US" sz="1200" b="1">
                <a:solidFill>
                  <a:srgbClr val="F05A5B"/>
                </a:solidFill>
                <a:latin typeface="Aptos"/>
              </a:rPr>
              <a:t>CRITICAL</a:t>
            </a:r>
            <a:endParaRPr lang="en-US" sz="1200"/>
          </a:p>
        </p:txBody>
      </p:sp>
      <p:sp>
        <p:nvSpPr>
          <p:cNvPr id="24" name="hero-node-DETECT"/>
          <p:cNvSpPr/>
          <p:nvPr/>
        </p:nvSpPr>
        <p:spPr>
          <a:xfrm>
            <a:off x="7696200" y="781050"/>
            <a:ext cx="1333500" cy="40005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F05A5B"/>
            </a:solidFill>
            <a:prstDash val="solid"/>
          </a:ln>
        </p:spPr>
      </p:sp>
      <p:sp>
        <p:nvSpPr>
          <p:cNvPr id="25" name="hero-node-num-DETECT"/>
          <p:cNvSpPr/>
          <p:nvPr/>
        </p:nvSpPr>
        <p:spPr>
          <a:xfrm>
            <a:off x="7791450" y="8382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F05A5B"/>
                </a:solidFill>
                <a:latin typeface="Aptos"/>
              </a:defRPr>
            </a:pPr>
            <a:r>
              <a:rPr lang="en-US" sz="1000" b="1">
                <a:solidFill>
                  <a:srgbClr val="F05A5B"/>
                </a:solidFill>
                <a:latin typeface="Aptos"/>
              </a:rPr>
              <a:t>01</a:t>
            </a:r>
            <a:endParaRPr lang="en-US" sz="1000"/>
          </a:p>
        </p:txBody>
      </p:sp>
      <p:sp>
        <p:nvSpPr>
          <p:cNvPr id="26" name="hero-node-label-DETECT"/>
          <p:cNvSpPr/>
          <p:nvPr/>
        </p:nvSpPr>
        <p:spPr>
          <a:xfrm>
            <a:off x="8077200" y="86677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DETECT</a:t>
            </a:r>
            <a:endParaRPr lang="en-US" sz="1200"/>
          </a:p>
        </p:txBody>
      </p:sp>
      <p:sp>
        <p:nvSpPr>
          <p:cNvPr id="27" name="hero-node-UNDERSTAND"/>
          <p:cNvSpPr/>
          <p:nvPr/>
        </p:nvSpPr>
        <p:spPr>
          <a:xfrm>
            <a:off x="9563100" y="1171575"/>
            <a:ext cx="1333500" cy="40005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F4B45B"/>
            </a:solidFill>
            <a:prstDash val="solid"/>
          </a:ln>
        </p:spPr>
      </p:sp>
      <p:sp>
        <p:nvSpPr>
          <p:cNvPr id="28" name="hero-node-num-UNDERSTAND"/>
          <p:cNvSpPr/>
          <p:nvPr/>
        </p:nvSpPr>
        <p:spPr>
          <a:xfrm>
            <a:off x="9658350" y="1228725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F4B45B"/>
                </a:solidFill>
                <a:latin typeface="Aptos"/>
              </a:defRPr>
            </a:pPr>
            <a:r>
              <a:rPr lang="en-US" sz="1000" b="1">
                <a:solidFill>
                  <a:srgbClr val="F4B45B"/>
                </a:solidFill>
                <a:latin typeface="Aptos"/>
              </a:rPr>
              <a:t>02</a:t>
            </a:r>
            <a:endParaRPr lang="en-US" sz="1000"/>
          </a:p>
        </p:txBody>
      </p:sp>
      <p:sp>
        <p:nvSpPr>
          <p:cNvPr id="29" name="hero-node-label-UNDERSTAND"/>
          <p:cNvSpPr/>
          <p:nvPr/>
        </p:nvSpPr>
        <p:spPr>
          <a:xfrm>
            <a:off x="9944100" y="12573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UNDERSTAND</a:t>
            </a:r>
            <a:endParaRPr lang="en-US" sz="1200"/>
          </a:p>
        </p:txBody>
      </p:sp>
      <p:sp>
        <p:nvSpPr>
          <p:cNvPr id="30" name="hero-node-CHALLENGE"/>
          <p:cNvSpPr/>
          <p:nvPr/>
        </p:nvSpPr>
        <p:spPr>
          <a:xfrm>
            <a:off x="9791700" y="3886200"/>
            <a:ext cx="1333500" cy="40005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B6A0E8"/>
            </a:solidFill>
            <a:prstDash val="solid"/>
          </a:ln>
        </p:spPr>
      </p:sp>
      <p:sp>
        <p:nvSpPr>
          <p:cNvPr id="31" name="hero-node-num-CHALLENGE"/>
          <p:cNvSpPr/>
          <p:nvPr/>
        </p:nvSpPr>
        <p:spPr>
          <a:xfrm>
            <a:off x="9886950" y="39433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B6A0E8"/>
                </a:solidFill>
                <a:latin typeface="Aptos"/>
              </a:defRPr>
            </a:pPr>
            <a:r>
              <a:rPr lang="en-US" sz="1000" b="1">
                <a:solidFill>
                  <a:srgbClr val="B6A0E8"/>
                </a:solidFill>
                <a:latin typeface="Aptos"/>
              </a:rPr>
              <a:t>03</a:t>
            </a:r>
            <a:endParaRPr lang="en-US" sz="1000"/>
          </a:p>
        </p:txBody>
      </p:sp>
      <p:sp>
        <p:nvSpPr>
          <p:cNvPr id="32" name="hero-node-label-CHALLENGE"/>
          <p:cNvSpPr/>
          <p:nvPr/>
        </p:nvSpPr>
        <p:spPr>
          <a:xfrm>
            <a:off x="10172700" y="397192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CHALLENGE</a:t>
            </a:r>
            <a:endParaRPr lang="en-US" sz="1200"/>
          </a:p>
        </p:txBody>
      </p:sp>
      <p:sp>
        <p:nvSpPr>
          <p:cNvPr id="33" name="hero-node-DEFEND"/>
          <p:cNvSpPr/>
          <p:nvPr/>
        </p:nvSpPr>
        <p:spPr>
          <a:xfrm>
            <a:off x="7572375" y="4048125"/>
            <a:ext cx="1333500" cy="40005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77A6D9"/>
            </a:solidFill>
            <a:prstDash val="solid"/>
          </a:ln>
        </p:spPr>
      </p:sp>
      <p:sp>
        <p:nvSpPr>
          <p:cNvPr id="34" name="hero-node-num-DEFEND"/>
          <p:cNvSpPr/>
          <p:nvPr/>
        </p:nvSpPr>
        <p:spPr>
          <a:xfrm>
            <a:off x="7667625" y="4105275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77A6D9"/>
                </a:solidFill>
                <a:latin typeface="Aptos"/>
              </a:defRPr>
            </a:pPr>
            <a:r>
              <a:rPr lang="en-US" sz="1000" b="1">
                <a:solidFill>
                  <a:srgbClr val="77A6D9"/>
                </a:solidFill>
                <a:latin typeface="Aptos"/>
              </a:rPr>
              <a:t>04</a:t>
            </a:r>
            <a:endParaRPr lang="en-US" sz="1000"/>
          </a:p>
        </p:txBody>
      </p:sp>
      <p:sp>
        <p:nvSpPr>
          <p:cNvPr id="35" name="hero-node-label-DEFEND"/>
          <p:cNvSpPr/>
          <p:nvPr/>
        </p:nvSpPr>
        <p:spPr>
          <a:xfrm>
            <a:off x="7953375" y="413385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DEFEND</a:t>
            </a:r>
            <a:endParaRPr lang="en-US" sz="1200"/>
          </a:p>
        </p:txBody>
      </p:sp>
      <p:sp>
        <p:nvSpPr>
          <p:cNvPr id="36" name="hero-node-LEARN"/>
          <p:cNvSpPr/>
          <p:nvPr/>
        </p:nvSpPr>
        <p:spPr>
          <a:xfrm>
            <a:off x="6953250" y="2419350"/>
            <a:ext cx="1333500" cy="40005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37" name="hero-node-num-LEARN"/>
          <p:cNvSpPr/>
          <p:nvPr/>
        </p:nvSpPr>
        <p:spPr>
          <a:xfrm>
            <a:off x="7048500" y="24765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5AD4C7"/>
                </a:solidFill>
                <a:latin typeface="Aptos"/>
              </a:defRPr>
            </a:pPr>
            <a:r>
              <a:rPr lang="en-US" sz="1000" b="1">
                <a:solidFill>
                  <a:srgbClr val="5AD4C7"/>
                </a:solidFill>
                <a:latin typeface="Aptos"/>
              </a:rPr>
              <a:t>05</a:t>
            </a:r>
            <a:endParaRPr lang="en-US" sz="1000"/>
          </a:p>
        </p:txBody>
      </p:sp>
      <p:sp>
        <p:nvSpPr>
          <p:cNvPr id="38" name="hero-node-label-LEARN"/>
          <p:cNvSpPr/>
          <p:nvPr/>
        </p:nvSpPr>
        <p:spPr>
          <a:xfrm>
            <a:off x="7334250" y="250507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LEARN</a:t>
            </a:r>
            <a:endParaRPr lang="en-US" sz="1200"/>
          </a:p>
        </p:txBody>
      </p:sp>
      <p:sp>
        <p:nvSpPr>
          <p:cNvPr id="39" name="hero-ribbon"/>
          <p:cNvSpPr/>
          <p:nvPr/>
        </p:nvSpPr>
        <p:spPr>
          <a:xfrm>
            <a:off x="685800" y="5314950"/>
            <a:ext cx="10820400" cy="4762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40" name="hero-ribbon-kicker"/>
          <p:cNvSpPr/>
          <p:nvPr/>
        </p:nvSpPr>
        <p:spPr>
          <a:xfrm>
            <a:off x="876300" y="546735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THE THESIS</a:t>
            </a:r>
            <a:endParaRPr lang="en-US" sz="1100"/>
          </a:p>
        </p:txBody>
      </p:sp>
      <p:sp>
        <p:nvSpPr>
          <p:cNvPr id="41" name="hero-ribbon-title"/>
          <p:cNvSpPr/>
          <p:nvPr/>
        </p:nvSpPr>
        <p:spPr>
          <a:xfrm>
            <a:off x="2095500" y="54292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Detection is only the beginning.</a:t>
            </a:r>
            <a:endParaRPr lang="en-US" sz="1700"/>
          </a:p>
        </p:txBody>
      </p:sp>
      <p:sp>
        <p:nvSpPr>
          <p:cNvPr id="42" name="hero-ribbon-copy"/>
          <p:cNvSpPr/>
          <p:nvPr/>
        </p:nvSpPr>
        <p:spPr>
          <a:xfrm>
            <a:off x="7239000" y="5467350"/>
            <a:ext cx="4000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What does the attacker do next?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rgbClr val="0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-2-eyebrow"/>
          <p:cNvSpPr/>
          <p:nvPr/>
        </p:nvSpPr>
        <p:spPr>
          <a:xfrm>
            <a:off x="685800" y="3238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5AD4C7"/>
                </a:solidFill>
                <a:latin typeface="Aptos"/>
              </a:defRPr>
            </a:pPr>
            <a:r>
              <a:rPr lang="en-US" sz="1200" b="1">
                <a:solidFill>
                  <a:srgbClr val="5AD4C7"/>
                </a:solidFill>
                <a:latin typeface="Aptos"/>
              </a:rPr>
              <a:t>01 / THE PROBLEM</a:t>
            </a:r>
            <a:endParaRPr lang="en-US" sz="1200"/>
          </a:p>
        </p:txBody>
      </p:sp>
      <p:sp>
        <p:nvSpPr>
          <p:cNvPr id="44" name="slide-2-title"/>
          <p:cNvSpPr/>
          <p:nvPr/>
        </p:nvSpPr>
        <p:spPr>
          <a:xfrm>
            <a:off x="685800" y="657225"/>
            <a:ext cx="8572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3500" b="1">
                <a:solidFill>
                  <a:srgbClr val="F4F8F8"/>
                </a:solidFill>
                <a:latin typeface="Aptos"/>
              </a:defRPr>
            </a:pPr>
            <a:r>
              <a:rPr lang="en-US" sz="3500" b="1">
                <a:solidFill>
                  <a:srgbClr val="F4F8F8"/>
                </a:solidFill>
                <a:latin typeface="Aptos"/>
              </a:rPr>
              <a:t>Fraud teams see the alert. They still need the story.</a:t>
            </a:r>
            <a:endParaRPr lang="en-US" sz="3500"/>
          </a:p>
        </p:txBody>
      </p:sp>
      <p:sp>
        <p:nvSpPr>
          <p:cNvPr id="45" name="slide-2-subtitle"/>
          <p:cNvSpPr/>
          <p:nvPr/>
        </p:nvSpPr>
        <p:spPr>
          <a:xfrm>
            <a:off x="8858250" y="666750"/>
            <a:ext cx="2619375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Modern fraud is coordinated, adaptive, and expensive to explain after the fact.</a:t>
            </a:r>
            <a:endParaRPr lang="en-US" sz="1500"/>
          </a:p>
        </p:txBody>
      </p:sp>
      <p:sp>
        <p:nvSpPr>
          <p:cNvPr id="46" name="slide-2-rule"/>
          <p:cNvSpPr/>
          <p:nvPr/>
        </p:nvSpPr>
        <p:spPr>
          <a:xfrm>
            <a:off x="685800" y="6115050"/>
            <a:ext cx="108204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47" name="slide-2-footer"/>
          <p:cNvSpPr/>
          <p:nvPr/>
        </p:nvSpPr>
        <p:spPr>
          <a:xfrm>
            <a:off x="685800" y="62484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A8C1C3"/>
                </a:solidFill>
                <a:latin typeface="Aptos"/>
              </a:defRPr>
            </a:pPr>
            <a:r>
              <a:rPr lang="en-US" sz="1000" b="1">
                <a:solidFill>
                  <a:srgbClr val="A8C1C3"/>
                </a:solidFill>
                <a:latin typeface="Aptos"/>
              </a:rPr>
              <a:t>FRAUD WAR ROOM  /  FRAUD DEFENSE AUTONOMY ENGINE</a:t>
            </a:r>
            <a:endParaRPr lang="en-US" sz="1000"/>
          </a:p>
        </p:txBody>
      </p:sp>
      <p:sp>
        <p:nvSpPr>
          <p:cNvPr id="48" name="slide-2-number"/>
          <p:cNvSpPr/>
          <p:nvPr/>
        </p:nvSpPr>
        <p:spPr>
          <a:xfrm>
            <a:off x="10858500" y="6248400"/>
            <a:ext cx="6477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000" b="1">
                <a:solidFill>
                  <a:srgbClr val="5AD4C7"/>
                </a:solidFill>
                <a:latin typeface="Aptos"/>
              </a:defRPr>
            </a:pPr>
            <a:r>
              <a:rPr lang="en-US" sz="1000" b="1">
                <a:solidFill>
                  <a:srgbClr val="5AD4C7"/>
                </a:solidFill>
                <a:latin typeface="Aptos"/>
              </a:rPr>
              <a:t>02 / 06</a:t>
            </a:r>
            <a:endParaRPr lang="en-US" sz="1000"/>
          </a:p>
        </p:txBody>
      </p:sp>
      <p:sp>
        <p:nvSpPr>
          <p:cNvPr id="49" name="problem-card-01"/>
          <p:cNvSpPr/>
          <p:nvPr/>
        </p:nvSpPr>
        <p:spPr>
          <a:xfrm>
            <a:off x="685800" y="1809750"/>
            <a:ext cx="6191250" cy="9906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50" name="problem-mark-01"/>
          <p:cNvSpPr/>
          <p:nvPr/>
        </p:nvSpPr>
        <p:spPr>
          <a:xfrm>
            <a:off x="685800" y="1809750"/>
            <a:ext cx="66675" cy="990600"/>
          </a:xfrm>
          <a:prstGeom prst="roundRect">
            <a:avLst/>
          </a:prstGeom>
          <a:solidFill>
            <a:srgbClr val="F05A5B"/>
          </a:solidFill>
          <a:ln>
            <a:noFill/>
          </a:ln>
        </p:spPr>
      </p:sp>
      <p:sp>
        <p:nvSpPr>
          <p:cNvPr id="51" name="problem-num-01"/>
          <p:cNvSpPr/>
          <p:nvPr/>
        </p:nvSpPr>
        <p:spPr>
          <a:xfrm>
            <a:off x="952500" y="1981200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F05A5B"/>
                </a:solidFill>
                <a:latin typeface="Aptos"/>
              </a:defRPr>
            </a:pPr>
            <a:r>
              <a:rPr lang="en-US" sz="1100" b="1">
                <a:solidFill>
                  <a:srgbClr val="F05A5B"/>
                </a:solidFill>
                <a:latin typeface="Aptos"/>
              </a:rPr>
              <a:t>01</a:t>
            </a:r>
            <a:endParaRPr lang="en-US" sz="1100"/>
          </a:p>
        </p:txBody>
      </p:sp>
      <p:sp>
        <p:nvSpPr>
          <p:cNvPr id="52" name="problem-head-01"/>
          <p:cNvSpPr/>
          <p:nvPr/>
        </p:nvSpPr>
        <p:spPr>
          <a:xfrm>
            <a:off x="1428750" y="1962150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2100" b="1">
                <a:solidFill>
                  <a:srgbClr val="F4F8F8"/>
                </a:solidFill>
                <a:latin typeface="Aptos"/>
              </a:defRPr>
            </a:pPr>
            <a:r>
              <a:rPr lang="en-US" sz="2100" b="1">
                <a:solidFill>
                  <a:srgbClr val="F4F8F8"/>
                </a:solidFill>
                <a:latin typeface="Aptos"/>
              </a:rPr>
              <a:t>Score without context</a:t>
            </a:r>
            <a:endParaRPr lang="en-US" sz="2100"/>
          </a:p>
        </p:txBody>
      </p:sp>
      <p:sp>
        <p:nvSpPr>
          <p:cNvPr id="53" name="problem-body-01"/>
          <p:cNvSpPr/>
          <p:nvPr/>
        </p:nvSpPr>
        <p:spPr>
          <a:xfrm>
            <a:off x="1428750" y="2257425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Rules and models flag anomalies, but investigators reconstruct the customer, device, beneficiary, sequence, and network story by hand.</a:t>
            </a:r>
            <a:endParaRPr lang="en-US" sz="1500"/>
          </a:p>
        </p:txBody>
      </p:sp>
      <p:sp>
        <p:nvSpPr>
          <p:cNvPr id="54" name="problem-card-02"/>
          <p:cNvSpPr/>
          <p:nvPr/>
        </p:nvSpPr>
        <p:spPr>
          <a:xfrm>
            <a:off x="685800" y="3009900"/>
            <a:ext cx="6191250" cy="9906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55" name="problem-mark-02"/>
          <p:cNvSpPr/>
          <p:nvPr/>
        </p:nvSpPr>
        <p:spPr>
          <a:xfrm>
            <a:off x="685800" y="3009900"/>
            <a:ext cx="66675" cy="990600"/>
          </a:xfrm>
          <a:prstGeom prst="roundRect">
            <a:avLst/>
          </a:prstGeom>
          <a:solidFill>
            <a:srgbClr val="F4B45B"/>
          </a:solidFill>
          <a:ln>
            <a:noFill/>
          </a:ln>
        </p:spPr>
      </p:sp>
      <p:sp>
        <p:nvSpPr>
          <p:cNvPr id="56" name="problem-num-02"/>
          <p:cNvSpPr/>
          <p:nvPr/>
        </p:nvSpPr>
        <p:spPr>
          <a:xfrm>
            <a:off x="952500" y="3181350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F4B45B"/>
                </a:solidFill>
                <a:latin typeface="Aptos"/>
              </a:defRPr>
            </a:pPr>
            <a:r>
              <a:rPr lang="en-US" sz="1100" b="1">
                <a:solidFill>
                  <a:srgbClr val="F4B45B"/>
                </a:solidFill>
                <a:latin typeface="Aptos"/>
              </a:rPr>
              <a:t>02</a:t>
            </a:r>
            <a:endParaRPr lang="en-US" sz="1100"/>
          </a:p>
        </p:txBody>
      </p:sp>
      <p:sp>
        <p:nvSpPr>
          <p:cNvPr id="57" name="problem-head-02"/>
          <p:cNvSpPr/>
          <p:nvPr/>
        </p:nvSpPr>
        <p:spPr>
          <a:xfrm>
            <a:off x="1428750" y="3162300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2100" b="1">
                <a:solidFill>
                  <a:srgbClr val="F4F8F8"/>
                </a:solidFill>
                <a:latin typeface="Aptos"/>
              </a:defRPr>
            </a:pPr>
            <a:r>
              <a:rPr lang="en-US" sz="2100" b="1">
                <a:solidFill>
                  <a:srgbClr val="F4F8F8"/>
                </a:solidFill>
                <a:latin typeface="Aptos"/>
              </a:rPr>
              <a:t>Controls without a sparring partner</a:t>
            </a:r>
            <a:endParaRPr lang="en-US" sz="2100"/>
          </a:p>
        </p:txBody>
      </p:sp>
      <p:sp>
        <p:nvSpPr>
          <p:cNvPr id="58" name="problem-body-02"/>
          <p:cNvSpPr/>
          <p:nvPr/>
        </p:nvSpPr>
        <p:spPr>
          <a:xfrm>
            <a:off x="1428750" y="3457575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A control may stop fraud while creating false positives, customer friction, or a new bypass. Most workflows discover that too late.</a:t>
            </a:r>
            <a:endParaRPr lang="en-US" sz="1500"/>
          </a:p>
        </p:txBody>
      </p:sp>
      <p:sp>
        <p:nvSpPr>
          <p:cNvPr id="59" name="problem-card-03"/>
          <p:cNvSpPr/>
          <p:nvPr/>
        </p:nvSpPr>
        <p:spPr>
          <a:xfrm>
            <a:off x="685800" y="4210050"/>
            <a:ext cx="6191250" cy="9906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60" name="problem-mark-03"/>
          <p:cNvSpPr/>
          <p:nvPr/>
        </p:nvSpPr>
        <p:spPr>
          <a:xfrm>
            <a:off x="685800" y="4210050"/>
            <a:ext cx="66675" cy="990600"/>
          </a:xfrm>
          <a:prstGeom prst="roundRect">
            <a:avLst/>
          </a:prstGeom>
          <a:solidFill>
            <a:srgbClr val="77A6D9"/>
          </a:solidFill>
          <a:ln>
            <a:noFill/>
          </a:ln>
        </p:spPr>
      </p:sp>
      <p:sp>
        <p:nvSpPr>
          <p:cNvPr id="61" name="problem-num-03"/>
          <p:cNvSpPr/>
          <p:nvPr/>
        </p:nvSpPr>
        <p:spPr>
          <a:xfrm>
            <a:off x="952500" y="4381500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77A6D9"/>
                </a:solidFill>
                <a:latin typeface="Aptos"/>
              </a:defRPr>
            </a:pPr>
            <a:r>
              <a:rPr lang="en-US" sz="1100" b="1">
                <a:solidFill>
                  <a:srgbClr val="77A6D9"/>
                </a:solidFill>
                <a:latin typeface="Aptos"/>
              </a:rPr>
              <a:t>03</a:t>
            </a:r>
            <a:endParaRPr lang="en-US" sz="1100"/>
          </a:p>
        </p:txBody>
      </p:sp>
      <p:sp>
        <p:nvSpPr>
          <p:cNvPr id="62" name="problem-head-03"/>
          <p:cNvSpPr/>
          <p:nvPr/>
        </p:nvSpPr>
        <p:spPr>
          <a:xfrm>
            <a:off x="1428750" y="4362450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2100" b="1">
                <a:solidFill>
                  <a:srgbClr val="F4F8F8"/>
                </a:solidFill>
                <a:latin typeface="Aptos"/>
              </a:defRPr>
            </a:pPr>
            <a:r>
              <a:rPr lang="en-US" sz="2100" b="1">
                <a:solidFill>
                  <a:srgbClr val="F4F8F8"/>
                </a:solidFill>
                <a:latin typeface="Aptos"/>
              </a:rPr>
              <a:t>Decisions without a defensible trail</a:t>
            </a:r>
            <a:endParaRPr lang="en-US" sz="2100"/>
          </a:p>
        </p:txBody>
      </p:sp>
      <p:sp>
        <p:nvSpPr>
          <p:cNvPr id="63" name="problem-body-03"/>
          <p:cNvSpPr/>
          <p:nvPr/>
        </p:nvSpPr>
        <p:spPr>
          <a:xfrm>
            <a:off x="1428750" y="4657725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Evidence, dissent, approval, and outcomes live across tools. The audit question arrives after the decision.</a:t>
            </a:r>
            <a:endParaRPr lang="en-US" sz="1500"/>
          </a:p>
        </p:txBody>
      </p:sp>
      <p:sp>
        <p:nvSpPr>
          <p:cNvPr id="64" name="problem-callout"/>
          <p:cNvSpPr/>
          <p:nvPr/>
        </p:nvSpPr>
        <p:spPr>
          <a:xfrm>
            <a:off x="7334250" y="1790700"/>
            <a:ext cx="4171950" cy="33909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65" name="gap-kicker"/>
          <p:cNvSpPr/>
          <p:nvPr/>
        </p:nvSpPr>
        <p:spPr>
          <a:xfrm>
            <a:off x="7639050" y="20955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THE GAP</a:t>
            </a:r>
            <a:endParaRPr lang="en-US" sz="1100"/>
          </a:p>
        </p:txBody>
      </p:sp>
      <p:sp>
        <p:nvSpPr>
          <p:cNvPr id="66" name="gap-number"/>
          <p:cNvSpPr/>
          <p:nvPr/>
        </p:nvSpPr>
        <p:spPr>
          <a:xfrm>
            <a:off x="7620000" y="241935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3800" b="1">
                <a:solidFill>
                  <a:srgbClr val="F4F8F8"/>
                </a:solidFill>
                <a:latin typeface="Aptos"/>
              </a:defRPr>
            </a:pPr>
            <a:r>
              <a:rPr lang="en-US" sz="3800" b="1">
                <a:solidFill>
                  <a:srgbClr val="F4F8F8"/>
                </a:solidFill>
                <a:latin typeface="Aptos"/>
              </a:rPr>
              <a:t>1  →  ∞</a:t>
            </a:r>
            <a:endParaRPr lang="en-US" sz="3800"/>
          </a:p>
        </p:txBody>
      </p:sp>
      <p:sp>
        <p:nvSpPr>
          <p:cNvPr id="67" name="gap-title"/>
          <p:cNvSpPr/>
          <p:nvPr/>
        </p:nvSpPr>
        <p:spPr>
          <a:xfrm>
            <a:off x="7639050" y="3048000"/>
            <a:ext cx="3276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2400" b="1">
                <a:solidFill>
                  <a:srgbClr val="F4F8F8"/>
                </a:solidFill>
                <a:latin typeface="Aptos"/>
              </a:defRPr>
            </a:pPr>
            <a:r>
              <a:rPr lang="en-US" sz="2400" b="1">
                <a:solidFill>
                  <a:srgbClr val="F4F8F8"/>
                </a:solidFill>
                <a:latin typeface="Aptos"/>
              </a:rPr>
              <a:t>One alert becomes a living investigation.</a:t>
            </a:r>
            <a:endParaRPr lang="en-US" sz="2400"/>
          </a:p>
        </p:txBody>
      </p:sp>
      <p:sp>
        <p:nvSpPr>
          <p:cNvPr id="68" name="gap-body"/>
          <p:cNvSpPr/>
          <p:nvPr/>
        </p:nvSpPr>
        <p:spPr>
          <a:xfrm>
            <a:off x="7639050" y="3752850"/>
            <a:ext cx="33337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600">
                <a:solidFill>
                  <a:srgbClr val="A8C1C3"/>
                </a:solidFill>
                <a:latin typeface="Aptos"/>
              </a:defRPr>
            </a:pPr>
            <a:r>
              <a:rPr lang="en-US" sz="1600">
                <a:solidFill>
                  <a:srgbClr val="A8C1C3"/>
                </a:solidFill>
                <a:latin typeface="Aptos"/>
              </a:rPr>
              <a:t>When the fraud pattern changes, the defense must learn without turning a production customer into the experiment.</a:t>
            </a:r>
            <a:endParaRPr lang="en-US" sz="1600"/>
          </a:p>
        </p:txBody>
      </p:sp>
      <p:sp>
        <p:nvSpPr>
          <p:cNvPr id="69" name="gap-signal-1"/>
          <p:cNvSpPr/>
          <p:nvPr/>
        </p:nvSpPr>
        <p:spPr>
          <a:xfrm>
            <a:off x="7639050" y="4495800"/>
            <a:ext cx="438150" cy="57150"/>
          </a:xfrm>
          <a:prstGeom prst="roundRect">
            <a:avLst/>
          </a:prstGeom>
          <a:solidFill>
            <a:srgbClr val="F05A5B"/>
          </a:solidFill>
          <a:ln>
            <a:noFill/>
          </a:ln>
        </p:spPr>
      </p:sp>
      <p:sp>
        <p:nvSpPr>
          <p:cNvPr id="70" name="gap-label-1"/>
          <p:cNvSpPr/>
          <p:nvPr/>
        </p:nvSpPr>
        <p:spPr>
          <a:xfrm>
            <a:off x="8191500" y="4429125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Reactive detection</a:t>
            </a:r>
            <a:endParaRPr lang="en-US" sz="1300"/>
          </a:p>
        </p:txBody>
      </p:sp>
      <p:sp>
        <p:nvSpPr>
          <p:cNvPr id="71" name="gap-signal-2"/>
          <p:cNvSpPr/>
          <p:nvPr/>
        </p:nvSpPr>
        <p:spPr>
          <a:xfrm>
            <a:off x="7639050" y="4714875"/>
            <a:ext cx="438150" cy="57150"/>
          </a:xfrm>
          <a:prstGeom prst="roundRect">
            <a:avLst/>
          </a:prstGeom>
          <a:solidFill>
            <a:srgbClr val="F4B45B"/>
          </a:solidFill>
          <a:ln>
            <a:noFill/>
          </a:ln>
        </p:spPr>
      </p:sp>
      <p:sp>
        <p:nvSpPr>
          <p:cNvPr id="72" name="gap-label-2"/>
          <p:cNvSpPr/>
          <p:nvPr/>
        </p:nvSpPr>
        <p:spPr>
          <a:xfrm>
            <a:off x="8191500" y="46482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Manual investigation</a:t>
            </a:r>
            <a:endParaRPr lang="en-US" sz="1300"/>
          </a:p>
        </p:txBody>
      </p:sp>
      <p:sp>
        <p:nvSpPr>
          <p:cNvPr id="73" name="gap-signal-3"/>
          <p:cNvSpPr/>
          <p:nvPr/>
        </p:nvSpPr>
        <p:spPr>
          <a:xfrm>
            <a:off x="7639050" y="4933950"/>
            <a:ext cx="438150" cy="57150"/>
          </a:xfrm>
          <a:prstGeom prst="roundRect">
            <a:avLst/>
          </a:prstGeom>
          <a:solidFill>
            <a:srgbClr val="5AD4C7"/>
          </a:solidFill>
          <a:ln>
            <a:noFill/>
          </a:ln>
        </p:spPr>
      </p:sp>
      <p:sp>
        <p:nvSpPr>
          <p:cNvPr id="74" name="gap-label-3"/>
          <p:cNvSpPr/>
          <p:nvPr/>
        </p:nvSpPr>
        <p:spPr>
          <a:xfrm>
            <a:off x="8191500" y="4867275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5AD4C7"/>
                </a:solidFill>
                <a:latin typeface="Aptos"/>
              </a:defRPr>
            </a:pPr>
            <a:r>
              <a:rPr lang="en-US" sz="1300">
                <a:solidFill>
                  <a:srgbClr val="5AD4C7"/>
                </a:solidFill>
                <a:latin typeface="Aptos"/>
              </a:rPr>
              <a:t>Governed autonomy</a:t>
            </a:r>
            <a:endParaRPr lang="en-US" sz="1300"/>
          </a:p>
        </p:txBody>
      </p:sp>
      <p:sp>
        <p:nvSpPr>
          <p:cNvPr id="75" name="problem-bottom-line"/>
          <p:cNvSpPr/>
          <p:nvPr/>
        </p:nvSpPr>
        <p:spPr>
          <a:xfrm>
            <a:off x="685800" y="5505450"/>
            <a:ext cx="10820400" cy="3619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76" name="problem-bottom-kicker"/>
          <p:cNvSpPr/>
          <p:nvPr/>
        </p:nvSpPr>
        <p:spPr>
          <a:xfrm>
            <a:off x="876300" y="5610225"/>
            <a:ext cx="14097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5AD4C7"/>
                </a:solidFill>
                <a:latin typeface="Aptos"/>
              </a:defRPr>
            </a:pPr>
            <a:r>
              <a:rPr lang="en-US" sz="1000" b="1">
                <a:solidFill>
                  <a:srgbClr val="5AD4C7"/>
                </a:solidFill>
                <a:latin typeface="Aptos"/>
              </a:rPr>
              <a:t>DESIGN REQUIREMENT</a:t>
            </a:r>
            <a:endParaRPr lang="en-US" sz="1000"/>
          </a:p>
        </p:txBody>
      </p:sp>
      <p:sp>
        <p:nvSpPr>
          <p:cNvPr id="77" name="problem-bottom-copy"/>
          <p:cNvSpPr/>
          <p:nvPr/>
        </p:nvSpPr>
        <p:spPr>
          <a:xfrm>
            <a:off x="2476500" y="5600700"/>
            <a:ext cx="85725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F4F8F8"/>
                </a:solidFill>
                <a:latin typeface="Aptos"/>
              </a:defRPr>
            </a:pPr>
            <a:r>
              <a:rPr lang="en-US" sz="1300">
                <a:solidFill>
                  <a:srgbClr val="F4F8F8"/>
                </a:solidFill>
                <a:latin typeface="Aptos"/>
              </a:rPr>
              <a:t>Find the signal  ·  explain the signal  ·  attack the defense  ·  approve with evidence  ·  observe safely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rgbClr val="0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-3-eyebrow"/>
          <p:cNvSpPr/>
          <p:nvPr/>
        </p:nvSpPr>
        <p:spPr>
          <a:xfrm>
            <a:off x="685800" y="3238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5AD4C7"/>
                </a:solidFill>
                <a:latin typeface="Aptos"/>
              </a:defRPr>
            </a:pPr>
            <a:r>
              <a:rPr lang="en-US" sz="1200" b="1">
                <a:solidFill>
                  <a:srgbClr val="5AD4C7"/>
                </a:solidFill>
                <a:latin typeface="Aptos"/>
              </a:rPr>
              <a:t>02 / OUR SOLUTION</a:t>
            </a:r>
            <a:endParaRPr lang="en-US" sz="1200"/>
          </a:p>
        </p:txBody>
      </p:sp>
      <p:sp>
        <p:nvSpPr>
          <p:cNvPr id="79" name="slide-3-title"/>
          <p:cNvSpPr/>
          <p:nvPr/>
        </p:nvSpPr>
        <p:spPr>
          <a:xfrm>
            <a:off x="685800" y="657225"/>
            <a:ext cx="8572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3500" b="1">
                <a:solidFill>
                  <a:srgbClr val="F4F8F8"/>
                </a:solidFill>
                <a:latin typeface="Aptos"/>
              </a:defRPr>
            </a:pPr>
            <a:r>
              <a:rPr lang="en-US" sz="3500" b="1">
                <a:solidFill>
                  <a:srgbClr val="F4F8F8"/>
                </a:solidFill>
                <a:latin typeface="Aptos"/>
              </a:rPr>
              <a:t>A closed loop for defense that gets smarter.</a:t>
            </a:r>
            <a:endParaRPr lang="en-US" sz="3500"/>
          </a:p>
        </p:txBody>
      </p:sp>
      <p:sp>
        <p:nvSpPr>
          <p:cNvPr id="80" name="slide-3-subtitle"/>
          <p:cNvSpPr/>
          <p:nvPr/>
        </p:nvSpPr>
        <p:spPr>
          <a:xfrm>
            <a:off x="8858250" y="666750"/>
            <a:ext cx="2619375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Deterministic evidence meets multi-agent reasoning, adversarial rehearsal, and human control.</a:t>
            </a:r>
            <a:endParaRPr lang="en-US" sz="1500"/>
          </a:p>
        </p:txBody>
      </p:sp>
      <p:sp>
        <p:nvSpPr>
          <p:cNvPr id="81" name="slide-3-rule"/>
          <p:cNvSpPr/>
          <p:nvPr/>
        </p:nvSpPr>
        <p:spPr>
          <a:xfrm>
            <a:off x="685800" y="6115050"/>
            <a:ext cx="108204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82" name="slide-3-footer"/>
          <p:cNvSpPr/>
          <p:nvPr/>
        </p:nvSpPr>
        <p:spPr>
          <a:xfrm>
            <a:off x="685800" y="62484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A8C1C3"/>
                </a:solidFill>
                <a:latin typeface="Aptos"/>
              </a:defRPr>
            </a:pPr>
            <a:r>
              <a:rPr lang="en-US" sz="1000" b="1">
                <a:solidFill>
                  <a:srgbClr val="A8C1C3"/>
                </a:solidFill>
                <a:latin typeface="Aptos"/>
              </a:rPr>
              <a:t>FRAUD WAR ROOM  /  FRAUD DEFENSE AUTONOMY ENGINE</a:t>
            </a:r>
            <a:endParaRPr lang="en-US" sz="1000"/>
          </a:p>
        </p:txBody>
      </p:sp>
      <p:sp>
        <p:nvSpPr>
          <p:cNvPr id="83" name="slide-3-number"/>
          <p:cNvSpPr/>
          <p:nvPr/>
        </p:nvSpPr>
        <p:spPr>
          <a:xfrm>
            <a:off x="10858500" y="6248400"/>
            <a:ext cx="6477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000" b="1">
                <a:solidFill>
                  <a:srgbClr val="5AD4C7"/>
                </a:solidFill>
                <a:latin typeface="Aptos"/>
              </a:defRPr>
            </a:pPr>
            <a:r>
              <a:rPr lang="en-US" sz="1000" b="1">
                <a:solidFill>
                  <a:srgbClr val="5AD4C7"/>
                </a:solidFill>
                <a:latin typeface="Aptos"/>
              </a:rPr>
              <a:t>03 / 06</a:t>
            </a:r>
            <a:endParaRPr lang="en-US" sz="1000"/>
          </a:p>
        </p:txBody>
      </p:sp>
      <p:sp>
        <p:nvSpPr>
          <p:cNvPr id="84" name="solution-stage-01"/>
          <p:cNvSpPr/>
          <p:nvPr/>
        </p:nvSpPr>
        <p:spPr>
          <a:xfrm>
            <a:off x="685800" y="1762125"/>
            <a:ext cx="1752600" cy="12192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F05A5B"/>
            </a:solidFill>
            <a:prstDash val="solid"/>
          </a:ln>
        </p:spPr>
      </p:sp>
      <p:sp>
        <p:nvSpPr>
          <p:cNvPr id="85" name="solution-num-01"/>
          <p:cNvSpPr/>
          <p:nvPr/>
        </p:nvSpPr>
        <p:spPr>
          <a:xfrm>
            <a:off x="838200" y="1943100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F05A5B"/>
                </a:solidFill>
                <a:latin typeface="Aptos"/>
              </a:defRPr>
            </a:pPr>
            <a:r>
              <a:rPr lang="en-US" sz="1100" b="1">
                <a:solidFill>
                  <a:srgbClr val="F05A5B"/>
                </a:solidFill>
                <a:latin typeface="Aptos"/>
              </a:rPr>
              <a:t>01</a:t>
            </a:r>
            <a:endParaRPr lang="en-US" sz="1100"/>
          </a:p>
        </p:txBody>
      </p:sp>
      <p:sp>
        <p:nvSpPr>
          <p:cNvPr id="86" name="solution-head-01"/>
          <p:cNvSpPr/>
          <p:nvPr/>
        </p:nvSpPr>
        <p:spPr>
          <a:xfrm>
            <a:off x="838200" y="226695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900" b="1">
                <a:solidFill>
                  <a:srgbClr val="F4F8F8"/>
                </a:solidFill>
                <a:latin typeface="Aptos"/>
              </a:defRPr>
            </a:pPr>
            <a:r>
              <a:rPr lang="en-US" sz="1900" b="1">
                <a:solidFill>
                  <a:srgbClr val="F4F8F8"/>
                </a:solidFill>
                <a:latin typeface="Aptos"/>
              </a:rPr>
              <a:t>DETECT</a:t>
            </a:r>
            <a:endParaRPr lang="en-US" sz="1900"/>
          </a:p>
        </p:txBody>
      </p:sp>
      <p:sp>
        <p:nvSpPr>
          <p:cNvPr id="87" name="solution-body-01"/>
          <p:cNvSpPr/>
          <p:nvPr/>
        </p:nvSpPr>
        <p:spPr>
          <a:xfrm>
            <a:off x="838200" y="2590800"/>
            <a:ext cx="14478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Signals &amp; alerts</a:t>
            </a:r>
            <a:endParaRPr lang="en-US" sz="1300"/>
          </a:p>
        </p:txBody>
      </p:sp>
      <p:sp>
        <p:nvSpPr>
          <p:cNvPr id="88" name="solution-connector-01"/>
          <p:cNvSpPr/>
          <p:nvPr/>
        </p:nvSpPr>
        <p:spPr>
          <a:xfrm>
            <a:off x="2495550" y="2343150"/>
            <a:ext cx="247650" cy="38100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89" name="solution-stage-02"/>
          <p:cNvSpPr/>
          <p:nvPr/>
        </p:nvSpPr>
        <p:spPr>
          <a:xfrm>
            <a:off x="2838450" y="1762125"/>
            <a:ext cx="1752600" cy="12192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90" name="solution-num-02"/>
          <p:cNvSpPr/>
          <p:nvPr/>
        </p:nvSpPr>
        <p:spPr>
          <a:xfrm>
            <a:off x="2990850" y="1943100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02</a:t>
            </a:r>
            <a:endParaRPr lang="en-US" sz="1100"/>
          </a:p>
        </p:txBody>
      </p:sp>
      <p:sp>
        <p:nvSpPr>
          <p:cNvPr id="91" name="solution-head-02"/>
          <p:cNvSpPr/>
          <p:nvPr/>
        </p:nvSpPr>
        <p:spPr>
          <a:xfrm>
            <a:off x="2990850" y="226695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900" b="1">
                <a:solidFill>
                  <a:srgbClr val="F4F8F8"/>
                </a:solidFill>
                <a:latin typeface="Aptos"/>
              </a:defRPr>
            </a:pPr>
            <a:r>
              <a:rPr lang="en-US" sz="1900" b="1">
                <a:solidFill>
                  <a:srgbClr val="F4F8F8"/>
                </a:solidFill>
                <a:latin typeface="Aptos"/>
              </a:rPr>
              <a:t>UNDERSTAND</a:t>
            </a:r>
            <a:endParaRPr lang="en-US" sz="1900"/>
          </a:p>
        </p:txBody>
      </p:sp>
      <p:sp>
        <p:nvSpPr>
          <p:cNvPr id="92" name="solution-body-02"/>
          <p:cNvSpPr/>
          <p:nvPr/>
        </p:nvSpPr>
        <p:spPr>
          <a:xfrm>
            <a:off x="2990850" y="2590800"/>
            <a:ext cx="14478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Evidence ledger</a:t>
            </a:r>
            <a:endParaRPr lang="en-US" sz="1300"/>
          </a:p>
        </p:txBody>
      </p:sp>
      <p:sp>
        <p:nvSpPr>
          <p:cNvPr id="93" name="solution-connector-02"/>
          <p:cNvSpPr/>
          <p:nvPr/>
        </p:nvSpPr>
        <p:spPr>
          <a:xfrm>
            <a:off x="4648200" y="2343150"/>
            <a:ext cx="247650" cy="38100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94" name="solution-stage-03"/>
          <p:cNvSpPr/>
          <p:nvPr/>
        </p:nvSpPr>
        <p:spPr>
          <a:xfrm>
            <a:off x="4991100" y="1762125"/>
            <a:ext cx="1752600" cy="12192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B6A0E8"/>
            </a:solidFill>
            <a:prstDash val="solid"/>
          </a:ln>
        </p:spPr>
      </p:sp>
      <p:sp>
        <p:nvSpPr>
          <p:cNvPr id="95" name="solution-num-03"/>
          <p:cNvSpPr/>
          <p:nvPr/>
        </p:nvSpPr>
        <p:spPr>
          <a:xfrm>
            <a:off x="5143500" y="1943100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B6A0E8"/>
                </a:solidFill>
                <a:latin typeface="Aptos"/>
              </a:defRPr>
            </a:pPr>
            <a:r>
              <a:rPr lang="en-US" sz="1100" b="1">
                <a:solidFill>
                  <a:srgbClr val="B6A0E8"/>
                </a:solidFill>
                <a:latin typeface="Aptos"/>
              </a:rPr>
              <a:t>03</a:t>
            </a:r>
            <a:endParaRPr lang="en-US" sz="1100"/>
          </a:p>
        </p:txBody>
      </p:sp>
      <p:sp>
        <p:nvSpPr>
          <p:cNvPr id="96" name="solution-head-03"/>
          <p:cNvSpPr/>
          <p:nvPr/>
        </p:nvSpPr>
        <p:spPr>
          <a:xfrm>
            <a:off x="5143500" y="226695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900" b="1">
                <a:solidFill>
                  <a:srgbClr val="F4F8F8"/>
                </a:solidFill>
                <a:latin typeface="Aptos"/>
              </a:defRPr>
            </a:pPr>
            <a:r>
              <a:rPr lang="en-US" sz="1900" b="1">
                <a:solidFill>
                  <a:srgbClr val="F4F8F8"/>
                </a:solidFill>
                <a:latin typeface="Aptos"/>
              </a:rPr>
              <a:t>CHALLENGE</a:t>
            </a:r>
            <a:endParaRPr lang="en-US" sz="1900"/>
          </a:p>
        </p:txBody>
      </p:sp>
      <p:sp>
        <p:nvSpPr>
          <p:cNvPr id="97" name="solution-body-03"/>
          <p:cNvSpPr/>
          <p:nvPr/>
        </p:nvSpPr>
        <p:spPr>
          <a:xfrm>
            <a:off x="5143500" y="2590800"/>
            <a:ext cx="14478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Attacker in residence</a:t>
            </a:r>
            <a:endParaRPr lang="en-US" sz="1300"/>
          </a:p>
        </p:txBody>
      </p:sp>
      <p:sp>
        <p:nvSpPr>
          <p:cNvPr id="98" name="solution-connector-03"/>
          <p:cNvSpPr/>
          <p:nvPr/>
        </p:nvSpPr>
        <p:spPr>
          <a:xfrm>
            <a:off x="6800850" y="2343150"/>
            <a:ext cx="247650" cy="38100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99" name="solution-stage-04"/>
          <p:cNvSpPr/>
          <p:nvPr/>
        </p:nvSpPr>
        <p:spPr>
          <a:xfrm>
            <a:off x="7143750" y="1762125"/>
            <a:ext cx="1752600" cy="12192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77A6D9"/>
            </a:solidFill>
            <a:prstDash val="solid"/>
          </a:ln>
        </p:spPr>
      </p:sp>
      <p:sp>
        <p:nvSpPr>
          <p:cNvPr id="100" name="solution-num-04"/>
          <p:cNvSpPr/>
          <p:nvPr/>
        </p:nvSpPr>
        <p:spPr>
          <a:xfrm>
            <a:off x="7296150" y="1943100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77A6D9"/>
                </a:solidFill>
                <a:latin typeface="Aptos"/>
              </a:defRPr>
            </a:pPr>
            <a:r>
              <a:rPr lang="en-US" sz="1100" b="1">
                <a:solidFill>
                  <a:srgbClr val="77A6D9"/>
                </a:solidFill>
                <a:latin typeface="Aptos"/>
              </a:rPr>
              <a:t>04</a:t>
            </a:r>
            <a:endParaRPr lang="en-US" sz="1100"/>
          </a:p>
        </p:txBody>
      </p:sp>
      <p:sp>
        <p:nvSpPr>
          <p:cNvPr id="101" name="solution-head-04"/>
          <p:cNvSpPr/>
          <p:nvPr/>
        </p:nvSpPr>
        <p:spPr>
          <a:xfrm>
            <a:off x="7296150" y="226695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900" b="1">
                <a:solidFill>
                  <a:srgbClr val="F4F8F8"/>
                </a:solidFill>
                <a:latin typeface="Aptos"/>
              </a:defRPr>
            </a:pPr>
            <a:r>
              <a:rPr lang="en-US" sz="1900" b="1">
                <a:solidFill>
                  <a:srgbClr val="F4F8F8"/>
                </a:solidFill>
                <a:latin typeface="Aptos"/>
              </a:rPr>
              <a:t>DEFEND</a:t>
            </a:r>
            <a:endParaRPr lang="en-US" sz="1900"/>
          </a:p>
        </p:txBody>
      </p:sp>
      <p:sp>
        <p:nvSpPr>
          <p:cNvPr id="102" name="solution-body-04"/>
          <p:cNvSpPr/>
          <p:nvPr/>
        </p:nvSpPr>
        <p:spPr>
          <a:xfrm>
            <a:off x="7296150" y="2590800"/>
            <a:ext cx="14478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Counterfactual controls</a:t>
            </a:r>
            <a:endParaRPr lang="en-US" sz="1300"/>
          </a:p>
        </p:txBody>
      </p:sp>
      <p:sp>
        <p:nvSpPr>
          <p:cNvPr id="103" name="solution-connector-04"/>
          <p:cNvSpPr/>
          <p:nvPr/>
        </p:nvSpPr>
        <p:spPr>
          <a:xfrm>
            <a:off x="8953500" y="2343150"/>
            <a:ext cx="247650" cy="38100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04" name="solution-stage-05"/>
          <p:cNvSpPr/>
          <p:nvPr/>
        </p:nvSpPr>
        <p:spPr>
          <a:xfrm>
            <a:off x="9296400" y="1762125"/>
            <a:ext cx="1752600" cy="12192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F4B45B"/>
            </a:solidFill>
            <a:prstDash val="solid"/>
          </a:ln>
        </p:spPr>
      </p:sp>
      <p:sp>
        <p:nvSpPr>
          <p:cNvPr id="105" name="solution-num-05"/>
          <p:cNvSpPr/>
          <p:nvPr/>
        </p:nvSpPr>
        <p:spPr>
          <a:xfrm>
            <a:off x="9448800" y="1943100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F4B45B"/>
                </a:solidFill>
                <a:latin typeface="Aptos"/>
              </a:defRPr>
            </a:pPr>
            <a:r>
              <a:rPr lang="en-US" sz="1100" b="1">
                <a:solidFill>
                  <a:srgbClr val="F4B45B"/>
                </a:solidFill>
                <a:latin typeface="Aptos"/>
              </a:rPr>
              <a:t>05</a:t>
            </a:r>
            <a:endParaRPr lang="en-US" sz="1100"/>
          </a:p>
        </p:txBody>
      </p:sp>
      <p:sp>
        <p:nvSpPr>
          <p:cNvPr id="106" name="solution-head-05"/>
          <p:cNvSpPr/>
          <p:nvPr/>
        </p:nvSpPr>
        <p:spPr>
          <a:xfrm>
            <a:off x="9448800" y="226695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900" b="1">
                <a:solidFill>
                  <a:srgbClr val="F4F8F8"/>
                </a:solidFill>
                <a:latin typeface="Aptos"/>
              </a:defRPr>
            </a:pPr>
            <a:r>
              <a:rPr lang="en-US" sz="1900" b="1">
                <a:solidFill>
                  <a:srgbClr val="F4F8F8"/>
                </a:solidFill>
                <a:latin typeface="Aptos"/>
              </a:rPr>
              <a:t>LEARN</a:t>
            </a:r>
            <a:endParaRPr lang="en-US" sz="1900"/>
          </a:p>
        </p:txBody>
      </p:sp>
      <p:sp>
        <p:nvSpPr>
          <p:cNvPr id="107" name="solution-body-05"/>
          <p:cNvSpPr/>
          <p:nvPr/>
        </p:nvSpPr>
        <p:spPr>
          <a:xfrm>
            <a:off x="9448800" y="2590800"/>
            <a:ext cx="14478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Shadow outcomes</a:t>
            </a:r>
            <a:endParaRPr lang="en-US" sz="1300"/>
          </a:p>
        </p:txBody>
      </p:sp>
      <p:sp>
        <p:nvSpPr>
          <p:cNvPr id="108" name="solution-diff-0"/>
          <p:cNvSpPr/>
          <p:nvPr/>
        </p:nvSpPr>
        <p:spPr>
          <a:xfrm>
            <a:off x="685800" y="3524250"/>
            <a:ext cx="3333750" cy="1066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09" name="solution-diff-mark-0"/>
          <p:cNvSpPr/>
          <p:nvPr/>
        </p:nvSpPr>
        <p:spPr>
          <a:xfrm>
            <a:off x="876300" y="3733800"/>
            <a:ext cx="361950" cy="47625"/>
          </a:xfrm>
          <a:prstGeom prst="roundRect">
            <a:avLst/>
          </a:prstGeom>
          <a:solidFill>
            <a:srgbClr val="5AD4C7"/>
          </a:solidFill>
          <a:ln>
            <a:noFill/>
          </a:ln>
        </p:spPr>
      </p:sp>
      <p:sp>
        <p:nvSpPr>
          <p:cNvPr id="110" name="solution-diff-head-0"/>
          <p:cNvSpPr/>
          <p:nvPr/>
        </p:nvSpPr>
        <p:spPr>
          <a:xfrm>
            <a:off x="876300" y="39433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400" b="1">
                <a:solidFill>
                  <a:srgbClr val="5AD4C7"/>
                </a:solidFill>
                <a:latin typeface="Aptos"/>
              </a:defRPr>
            </a:pPr>
            <a:r>
              <a:rPr lang="en-US" sz="1400" b="1">
                <a:solidFill>
                  <a:srgbClr val="5AD4C7"/>
                </a:solidFill>
                <a:latin typeface="Aptos"/>
              </a:rPr>
              <a:t>DETERMINISTIC CORE</a:t>
            </a:r>
            <a:endParaRPr lang="en-US" sz="1400"/>
          </a:p>
        </p:txBody>
      </p:sp>
      <p:sp>
        <p:nvSpPr>
          <p:cNvPr id="111" name="solution-diff-body-0"/>
          <p:cNvSpPr/>
          <p:nvPr/>
        </p:nvSpPr>
        <p:spPr>
          <a:xfrm>
            <a:off x="876300" y="421005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Facts are calculated once, traceable, and reproducible.</a:t>
            </a:r>
            <a:endParaRPr lang="en-US" sz="1500"/>
          </a:p>
        </p:txBody>
      </p:sp>
      <p:sp>
        <p:nvSpPr>
          <p:cNvPr id="112" name="solution-diff-1"/>
          <p:cNvSpPr/>
          <p:nvPr/>
        </p:nvSpPr>
        <p:spPr>
          <a:xfrm>
            <a:off x="4286250" y="3524250"/>
            <a:ext cx="3333750" cy="1066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13" name="solution-diff-mark-1"/>
          <p:cNvSpPr/>
          <p:nvPr/>
        </p:nvSpPr>
        <p:spPr>
          <a:xfrm>
            <a:off x="4476750" y="3733800"/>
            <a:ext cx="361950" cy="47625"/>
          </a:xfrm>
          <a:prstGeom prst="roundRect">
            <a:avLst/>
          </a:prstGeom>
          <a:solidFill>
            <a:srgbClr val="B6A0E8"/>
          </a:solidFill>
          <a:ln>
            <a:noFill/>
          </a:ln>
        </p:spPr>
      </p:sp>
      <p:sp>
        <p:nvSpPr>
          <p:cNvPr id="114" name="solution-diff-head-1"/>
          <p:cNvSpPr/>
          <p:nvPr/>
        </p:nvSpPr>
        <p:spPr>
          <a:xfrm>
            <a:off x="4476750" y="39433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400" b="1">
                <a:solidFill>
                  <a:srgbClr val="B6A0E8"/>
                </a:solidFill>
                <a:latin typeface="Aptos"/>
              </a:defRPr>
            </a:pPr>
            <a:r>
              <a:rPr lang="en-US" sz="1400" b="1">
                <a:solidFill>
                  <a:srgbClr val="B6A0E8"/>
                </a:solidFill>
                <a:latin typeface="Aptos"/>
              </a:rPr>
              <a:t>ADVERSARIAL BY DESIGN</a:t>
            </a:r>
            <a:endParaRPr lang="en-US" sz="1400"/>
          </a:p>
        </p:txBody>
      </p:sp>
      <p:sp>
        <p:nvSpPr>
          <p:cNvPr id="115" name="solution-diff-body-1"/>
          <p:cNvSpPr/>
          <p:nvPr/>
        </p:nvSpPr>
        <p:spPr>
          <a:xfrm>
            <a:off x="4476750" y="421005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The attacker tests the defense before the investigator approves it.</a:t>
            </a:r>
            <a:endParaRPr lang="en-US" sz="1500"/>
          </a:p>
        </p:txBody>
      </p:sp>
      <p:sp>
        <p:nvSpPr>
          <p:cNvPr id="116" name="solution-diff-2"/>
          <p:cNvSpPr/>
          <p:nvPr/>
        </p:nvSpPr>
        <p:spPr>
          <a:xfrm>
            <a:off x="7886700" y="3524250"/>
            <a:ext cx="3333750" cy="1066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17" name="solution-diff-mark-2"/>
          <p:cNvSpPr/>
          <p:nvPr/>
        </p:nvSpPr>
        <p:spPr>
          <a:xfrm>
            <a:off x="8077200" y="3733800"/>
            <a:ext cx="361950" cy="47625"/>
          </a:xfrm>
          <a:prstGeom prst="roundRect">
            <a:avLst/>
          </a:prstGeom>
          <a:solidFill>
            <a:srgbClr val="F4B45B"/>
          </a:solidFill>
          <a:ln>
            <a:noFill/>
          </a:ln>
        </p:spPr>
      </p:sp>
      <p:sp>
        <p:nvSpPr>
          <p:cNvPr id="118" name="solution-diff-head-2"/>
          <p:cNvSpPr/>
          <p:nvPr/>
        </p:nvSpPr>
        <p:spPr>
          <a:xfrm>
            <a:off x="8077200" y="39433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400" b="1">
                <a:solidFill>
                  <a:srgbClr val="F4B45B"/>
                </a:solidFill>
                <a:latin typeface="Aptos"/>
              </a:defRPr>
            </a:pPr>
            <a:r>
              <a:rPr lang="en-US" sz="1400" b="1">
                <a:solidFill>
                  <a:srgbClr val="F4B45B"/>
                </a:solidFill>
                <a:latin typeface="Aptos"/>
              </a:rPr>
              <a:t>GOVERNED AUTONOMY</a:t>
            </a:r>
            <a:endParaRPr lang="en-US" sz="1400"/>
          </a:p>
        </p:txBody>
      </p:sp>
      <p:sp>
        <p:nvSpPr>
          <p:cNvPr id="119" name="solution-diff-body-2"/>
          <p:cNvSpPr/>
          <p:nvPr/>
        </p:nvSpPr>
        <p:spPr>
          <a:xfrm>
            <a:off x="8077200" y="421005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Approval, shadow mode, and a passport keep action bounded.</a:t>
            </a:r>
            <a:endParaRPr lang="en-US" sz="1500"/>
          </a:p>
        </p:txBody>
      </p:sp>
      <p:sp>
        <p:nvSpPr>
          <p:cNvPr id="120" name="solution-quote"/>
          <p:cNvSpPr/>
          <p:nvPr/>
        </p:nvSpPr>
        <p:spPr>
          <a:xfrm>
            <a:off x="685800" y="4991100"/>
            <a:ext cx="10820400" cy="7239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121" name="solution-quote-mark"/>
          <p:cNvSpPr/>
          <p:nvPr/>
        </p:nvSpPr>
        <p:spPr>
          <a:xfrm>
            <a:off x="952500" y="5162550"/>
            <a:ext cx="5524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3200" b="1">
                <a:solidFill>
                  <a:srgbClr val="5AD4C7"/>
                </a:solidFill>
                <a:latin typeface="Aptos"/>
              </a:defRPr>
            </a:pPr>
            <a:r>
              <a:rPr lang="en-US" sz="3200" b="1">
                <a:solidFill>
                  <a:srgbClr val="5AD4C7"/>
                </a:solidFill>
                <a:latin typeface="Aptos"/>
              </a:rPr>
              <a:t>“</a:t>
            </a:r>
            <a:endParaRPr lang="en-US" sz="3200"/>
          </a:p>
        </p:txBody>
      </p:sp>
      <p:sp>
        <p:nvSpPr>
          <p:cNvPr id="122" name="solution-quote-text"/>
          <p:cNvSpPr/>
          <p:nvPr/>
        </p:nvSpPr>
        <p:spPr>
          <a:xfrm>
            <a:off x="1428750" y="5191125"/>
            <a:ext cx="9239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2100" b="1">
                <a:solidFill>
                  <a:srgbClr val="F4F8F8"/>
                </a:solidFill>
                <a:latin typeface="Aptos"/>
              </a:defRPr>
            </a:pPr>
            <a:r>
              <a:rPr lang="en-US" sz="2100" b="1">
                <a:solidFill>
                  <a:srgbClr val="F4F8F8"/>
                </a:solidFill>
                <a:latin typeface="Aptos"/>
              </a:rPr>
              <a:t>The attacker is part of the design loop.</a:t>
            </a:r>
            <a:endParaRPr lang="en-US" sz="2100"/>
          </a:p>
        </p:txBody>
      </p:sp>
      <p:sp>
        <p:nvSpPr>
          <p:cNvPr id="123" name="solution-quote-body"/>
          <p:cNvSpPr/>
          <p:nvPr/>
        </p:nvSpPr>
        <p:spPr>
          <a:xfrm>
            <a:off x="1428750" y="5467350"/>
            <a:ext cx="92392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400">
                <a:solidFill>
                  <a:srgbClr val="A8C1C3"/>
                </a:solidFill>
                <a:latin typeface="Aptos"/>
              </a:defRPr>
            </a:pPr>
            <a:r>
              <a:rPr lang="en-US" sz="1400">
                <a:solidFill>
                  <a:srgbClr val="A8C1C3"/>
                </a:solidFill>
                <a:latin typeface="Aptos"/>
              </a:rPr>
              <a:t>That is how an alert becomes a defense that can explain itself, challenge itself, and improve safely.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rgbClr val="0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-4-eyebrow"/>
          <p:cNvSpPr/>
          <p:nvPr/>
        </p:nvSpPr>
        <p:spPr>
          <a:xfrm>
            <a:off x="685800" y="3238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5AD4C7"/>
                </a:solidFill>
                <a:latin typeface="Aptos"/>
              </a:defRPr>
            </a:pPr>
            <a:r>
              <a:rPr lang="en-US" sz="1200" b="1">
                <a:solidFill>
                  <a:srgbClr val="5AD4C7"/>
                </a:solidFill>
                <a:latin typeface="Aptos"/>
              </a:rPr>
              <a:t>03 / HOW IT WORKS</a:t>
            </a:r>
            <a:endParaRPr lang="en-US" sz="1200"/>
          </a:p>
        </p:txBody>
      </p:sp>
      <p:sp>
        <p:nvSpPr>
          <p:cNvPr id="125" name="slide-4-title"/>
          <p:cNvSpPr/>
          <p:nvPr/>
        </p:nvSpPr>
        <p:spPr>
          <a:xfrm>
            <a:off x="685800" y="657225"/>
            <a:ext cx="8572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3500" b="1">
                <a:solidFill>
                  <a:srgbClr val="F4F8F8"/>
                </a:solidFill>
                <a:latin typeface="Aptos"/>
              </a:defRPr>
            </a:pPr>
            <a:r>
              <a:rPr lang="en-US" sz="3500" b="1">
                <a:solidFill>
                  <a:srgbClr val="F4F8F8"/>
                </a:solidFill>
                <a:latin typeface="Aptos"/>
              </a:rPr>
              <a:t>Every handoff is visible in the investigation lattice.</a:t>
            </a:r>
            <a:endParaRPr lang="en-US" sz="3500"/>
          </a:p>
        </p:txBody>
      </p:sp>
      <p:sp>
        <p:nvSpPr>
          <p:cNvPr id="126" name="slide-4-subtitle"/>
          <p:cNvSpPr/>
          <p:nvPr/>
        </p:nvSpPr>
        <p:spPr>
          <a:xfrm>
            <a:off x="8858250" y="666750"/>
            <a:ext cx="2619375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18 named nodes  ·  17 directed handoffs  ·  one source-of-truth case packet</a:t>
            </a:r>
            <a:endParaRPr lang="en-US" sz="1500"/>
          </a:p>
        </p:txBody>
      </p:sp>
      <p:sp>
        <p:nvSpPr>
          <p:cNvPr id="127" name="slide-4-rule"/>
          <p:cNvSpPr/>
          <p:nvPr/>
        </p:nvSpPr>
        <p:spPr>
          <a:xfrm>
            <a:off x="685800" y="6115050"/>
            <a:ext cx="108204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28" name="slide-4-footer"/>
          <p:cNvSpPr/>
          <p:nvPr/>
        </p:nvSpPr>
        <p:spPr>
          <a:xfrm>
            <a:off x="685800" y="62484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A8C1C3"/>
                </a:solidFill>
                <a:latin typeface="Aptos"/>
              </a:defRPr>
            </a:pPr>
            <a:r>
              <a:rPr lang="en-US" sz="1000" b="1">
                <a:solidFill>
                  <a:srgbClr val="A8C1C3"/>
                </a:solidFill>
                <a:latin typeface="Aptos"/>
              </a:rPr>
              <a:t>FRAUD WAR ROOM  /  FRAUD DEFENSE AUTONOMY ENGINE</a:t>
            </a:r>
            <a:endParaRPr lang="en-US" sz="1000"/>
          </a:p>
        </p:txBody>
      </p:sp>
      <p:sp>
        <p:nvSpPr>
          <p:cNvPr id="129" name="slide-4-number"/>
          <p:cNvSpPr/>
          <p:nvPr/>
        </p:nvSpPr>
        <p:spPr>
          <a:xfrm>
            <a:off x="10858500" y="6248400"/>
            <a:ext cx="6477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000" b="1">
                <a:solidFill>
                  <a:srgbClr val="5AD4C7"/>
                </a:solidFill>
                <a:latin typeface="Aptos"/>
              </a:defRPr>
            </a:pPr>
            <a:r>
              <a:rPr lang="en-US" sz="1000" b="1">
                <a:solidFill>
                  <a:srgbClr val="5AD4C7"/>
                </a:solidFill>
                <a:latin typeface="Aptos"/>
              </a:rPr>
              <a:t>04 / 06</a:t>
            </a:r>
            <a:endParaRPr lang="en-US" sz="1000"/>
          </a:p>
        </p:txBody>
      </p:sp>
      <p:sp>
        <p:nvSpPr>
          <p:cNvPr id="130" name="flow-top-0"/>
          <p:cNvSpPr/>
          <p:nvPr/>
        </p:nvSpPr>
        <p:spPr>
          <a:xfrm>
            <a:off x="685800" y="1524000"/>
            <a:ext cx="1809750" cy="4572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131" name="flow-top-label-0"/>
          <p:cNvSpPr/>
          <p:nvPr/>
        </p:nvSpPr>
        <p:spPr>
          <a:xfrm>
            <a:off x="800100" y="1676400"/>
            <a:ext cx="1581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400" b="1">
                <a:solidFill>
                  <a:srgbClr val="F4F8F8"/>
                </a:solidFill>
                <a:latin typeface="Aptos"/>
              </a:defRPr>
            </a:pPr>
            <a:r>
              <a:rPr lang="en-US" sz="1400" b="1">
                <a:solidFill>
                  <a:srgbClr val="F4F8F8"/>
                </a:solidFill>
                <a:latin typeface="Aptos"/>
              </a:rPr>
              <a:t>FRAUD COMMANDER</a:t>
            </a:r>
            <a:endParaRPr lang="en-US" sz="1400"/>
          </a:p>
        </p:txBody>
      </p:sp>
      <p:sp>
        <p:nvSpPr>
          <p:cNvPr id="132" name="flow-top-arrow-0"/>
          <p:cNvSpPr/>
          <p:nvPr/>
        </p:nvSpPr>
        <p:spPr>
          <a:xfrm>
            <a:off x="2552700" y="1724025"/>
            <a:ext cx="228600" cy="38100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33" name="flow-top-1"/>
          <p:cNvSpPr/>
          <p:nvPr/>
        </p:nvSpPr>
        <p:spPr>
          <a:xfrm>
            <a:off x="2781300" y="1524000"/>
            <a:ext cx="1809750" cy="4572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77A6D9"/>
            </a:solidFill>
            <a:prstDash val="solid"/>
          </a:ln>
        </p:spPr>
      </p:sp>
      <p:sp>
        <p:nvSpPr>
          <p:cNvPr id="134" name="flow-top-label-1"/>
          <p:cNvSpPr/>
          <p:nvPr/>
        </p:nvSpPr>
        <p:spPr>
          <a:xfrm>
            <a:off x="2895600" y="1676400"/>
            <a:ext cx="1581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400" b="1">
                <a:solidFill>
                  <a:srgbClr val="F4F8F8"/>
                </a:solidFill>
                <a:latin typeface="Aptos"/>
              </a:defRPr>
            </a:pPr>
            <a:r>
              <a:rPr lang="en-US" sz="1400" b="1">
                <a:solidFill>
                  <a:srgbClr val="F4F8F8"/>
                </a:solidFill>
                <a:latin typeface="Aptos"/>
              </a:rPr>
              <a:t>SIGNAL INTAKE</a:t>
            </a:r>
            <a:endParaRPr lang="en-US" sz="1400"/>
          </a:p>
        </p:txBody>
      </p:sp>
      <p:sp>
        <p:nvSpPr>
          <p:cNvPr id="135" name="flow-top-arrow-1"/>
          <p:cNvSpPr/>
          <p:nvPr/>
        </p:nvSpPr>
        <p:spPr>
          <a:xfrm>
            <a:off x="4648200" y="1724025"/>
            <a:ext cx="228600" cy="38100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36" name="flow-top-2"/>
          <p:cNvSpPr/>
          <p:nvPr/>
        </p:nvSpPr>
        <p:spPr>
          <a:xfrm>
            <a:off x="4876800" y="1524000"/>
            <a:ext cx="1809750" cy="4572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F4B45B"/>
            </a:solidFill>
            <a:prstDash val="solid"/>
          </a:ln>
        </p:spPr>
      </p:sp>
      <p:sp>
        <p:nvSpPr>
          <p:cNvPr id="137" name="flow-top-label-2"/>
          <p:cNvSpPr/>
          <p:nvPr/>
        </p:nvSpPr>
        <p:spPr>
          <a:xfrm>
            <a:off x="4991100" y="1676400"/>
            <a:ext cx="1581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400" b="1">
                <a:solidFill>
                  <a:srgbClr val="F4F8F8"/>
                </a:solidFill>
                <a:latin typeface="Aptos"/>
              </a:defRPr>
            </a:pPr>
            <a:r>
              <a:rPr lang="en-US" sz="1400" b="1">
                <a:solidFill>
                  <a:srgbClr val="F4F8F8"/>
                </a:solidFill>
                <a:latin typeface="Aptos"/>
              </a:rPr>
              <a:t>TRIAGE ROUTER</a:t>
            </a:r>
            <a:endParaRPr lang="en-US" sz="1400"/>
          </a:p>
        </p:txBody>
      </p:sp>
      <p:sp>
        <p:nvSpPr>
          <p:cNvPr id="138" name="flow-packet"/>
          <p:cNvSpPr/>
          <p:nvPr/>
        </p:nvSpPr>
        <p:spPr>
          <a:xfrm>
            <a:off x="6972300" y="1524000"/>
            <a:ext cx="4533900" cy="4572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139" name="flow-packet-label"/>
          <p:cNvSpPr/>
          <p:nvPr/>
        </p:nvSpPr>
        <p:spPr>
          <a:xfrm>
            <a:off x="7143750" y="1666875"/>
            <a:ext cx="41719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300" b="1">
                <a:solidFill>
                  <a:srgbClr val="5AD4C7"/>
                </a:solidFill>
                <a:latin typeface="Aptos"/>
              </a:defRPr>
            </a:pPr>
            <a:r>
              <a:rPr lang="en-US" sz="1300" b="1">
                <a:solidFill>
                  <a:srgbClr val="5AD4C7"/>
                </a:solidFill>
                <a:latin typeface="Aptos"/>
              </a:rPr>
              <a:t>DETERMINISTIC CASE PACKET  /  run_case_review</a:t>
            </a:r>
            <a:endParaRPr lang="en-US" sz="1300"/>
          </a:p>
        </p:txBody>
      </p:sp>
      <p:sp>
        <p:nvSpPr>
          <p:cNvPr id="140" name="flow-lanes-kicker"/>
          <p:cNvSpPr/>
          <p:nvPr/>
        </p:nvSpPr>
        <p:spPr>
          <a:xfrm>
            <a:off x="685800" y="2266950"/>
            <a:ext cx="10820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A8C1C3"/>
                </a:solidFill>
                <a:latin typeface="Aptos"/>
              </a:defRPr>
            </a:pPr>
            <a:r>
              <a:rPr lang="en-US" sz="1100" b="1">
                <a:solidFill>
                  <a:srgbClr val="A8C1C3"/>
                </a:solidFill>
                <a:latin typeface="Aptos"/>
              </a:rPr>
              <a:t>THREE INDEPENDENT ANALYST LANES</a:t>
            </a:r>
            <a:endParaRPr lang="en-US" sz="1100"/>
          </a:p>
        </p:txBody>
      </p:sp>
      <p:sp>
        <p:nvSpPr>
          <p:cNvPr id="141" name="flow-lane-0"/>
          <p:cNvSpPr/>
          <p:nvPr/>
        </p:nvSpPr>
        <p:spPr>
          <a:xfrm>
            <a:off x="685800" y="2543175"/>
            <a:ext cx="2628900" cy="685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42" name="flow-lane-mark-0"/>
          <p:cNvSpPr/>
          <p:nvPr/>
        </p:nvSpPr>
        <p:spPr>
          <a:xfrm>
            <a:off x="857250" y="2705100"/>
            <a:ext cx="266700" cy="38100"/>
          </a:xfrm>
          <a:prstGeom prst="roundRect">
            <a:avLst/>
          </a:prstGeom>
          <a:solidFill>
            <a:srgbClr val="F05A5B"/>
          </a:solidFill>
          <a:ln>
            <a:noFill/>
          </a:ln>
        </p:spPr>
      </p:sp>
      <p:sp>
        <p:nvSpPr>
          <p:cNvPr id="143" name="flow-lane-head-0"/>
          <p:cNvSpPr/>
          <p:nvPr/>
        </p:nvSpPr>
        <p:spPr>
          <a:xfrm>
            <a:off x="857250" y="2838450"/>
            <a:ext cx="2266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 b="1">
                <a:solidFill>
                  <a:srgbClr val="F4F8F8"/>
                </a:solidFill>
                <a:latin typeface="Aptos"/>
              </a:defRPr>
            </a:pPr>
            <a:r>
              <a:rPr lang="en-US" sz="1300" b="1">
                <a:solidFill>
                  <a:srgbClr val="F4F8F8"/>
                </a:solidFill>
                <a:latin typeface="Aptos"/>
              </a:rPr>
              <a:t>BEHAVIORAL SIGNAL LAB</a:t>
            </a:r>
            <a:endParaRPr lang="en-US" sz="1300"/>
          </a:p>
        </p:txBody>
      </p:sp>
      <p:sp>
        <p:nvSpPr>
          <p:cNvPr id="144" name="flow-lane-body-0"/>
          <p:cNvSpPr/>
          <p:nvPr/>
        </p:nvSpPr>
        <p:spPr>
          <a:xfrm>
            <a:off x="857250" y="3048000"/>
            <a:ext cx="2266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>
                <a:solidFill>
                  <a:srgbClr val="A8C1C3"/>
                </a:solidFill>
                <a:latin typeface="Aptos"/>
              </a:defRPr>
            </a:pPr>
            <a:r>
              <a:rPr lang="en-US" sz="1200">
                <a:solidFill>
                  <a:srgbClr val="A8C1C3"/>
                </a:solidFill>
                <a:latin typeface="Aptos"/>
              </a:rPr>
              <a:t>Sequence · novelty · amount</a:t>
            </a:r>
            <a:endParaRPr lang="en-US" sz="1200"/>
          </a:p>
        </p:txBody>
      </p:sp>
      <p:sp>
        <p:nvSpPr>
          <p:cNvPr id="145" name="flow-lane-1"/>
          <p:cNvSpPr/>
          <p:nvPr/>
        </p:nvSpPr>
        <p:spPr>
          <a:xfrm>
            <a:off x="3638550" y="2543175"/>
            <a:ext cx="2628900" cy="685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46" name="flow-lane-mark-1"/>
          <p:cNvSpPr/>
          <p:nvPr/>
        </p:nvSpPr>
        <p:spPr>
          <a:xfrm>
            <a:off x="3810000" y="2705100"/>
            <a:ext cx="266700" cy="38100"/>
          </a:xfrm>
          <a:prstGeom prst="roundRect">
            <a:avLst/>
          </a:prstGeom>
          <a:solidFill>
            <a:srgbClr val="B6A0E8"/>
          </a:solidFill>
          <a:ln>
            <a:noFill/>
          </a:ln>
        </p:spPr>
      </p:sp>
      <p:sp>
        <p:nvSpPr>
          <p:cNvPr id="147" name="flow-lane-head-1"/>
          <p:cNvSpPr/>
          <p:nvPr/>
        </p:nvSpPr>
        <p:spPr>
          <a:xfrm>
            <a:off x="3810000" y="2838450"/>
            <a:ext cx="2266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 b="1">
                <a:solidFill>
                  <a:srgbClr val="F4F8F8"/>
                </a:solidFill>
                <a:latin typeface="Aptos"/>
              </a:defRPr>
            </a:pPr>
            <a:r>
              <a:rPr lang="en-US" sz="1300" b="1">
                <a:solidFill>
                  <a:srgbClr val="F4F8F8"/>
                </a:solidFill>
                <a:latin typeface="Aptos"/>
              </a:rPr>
              <a:t>RELATIONSHIP FORENSICS</a:t>
            </a:r>
            <a:endParaRPr lang="en-US" sz="1300"/>
          </a:p>
        </p:txBody>
      </p:sp>
      <p:sp>
        <p:nvSpPr>
          <p:cNvPr id="148" name="flow-lane-body-1"/>
          <p:cNvSpPr/>
          <p:nvPr/>
        </p:nvSpPr>
        <p:spPr>
          <a:xfrm>
            <a:off x="3810000" y="3048000"/>
            <a:ext cx="2266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>
                <a:solidFill>
                  <a:srgbClr val="A8C1C3"/>
                </a:solidFill>
                <a:latin typeface="Aptos"/>
              </a:defRPr>
            </a:pPr>
            <a:r>
              <a:rPr lang="en-US" sz="1200">
                <a:solidFill>
                  <a:srgbClr val="A8C1C3"/>
                </a:solidFill>
                <a:latin typeface="Aptos"/>
              </a:rPr>
              <a:t>Graph · campaign · centrality</a:t>
            </a:r>
            <a:endParaRPr lang="en-US" sz="1200"/>
          </a:p>
        </p:txBody>
      </p:sp>
      <p:sp>
        <p:nvSpPr>
          <p:cNvPr id="149" name="flow-lane-2"/>
          <p:cNvSpPr/>
          <p:nvPr/>
        </p:nvSpPr>
        <p:spPr>
          <a:xfrm>
            <a:off x="6591300" y="2543175"/>
            <a:ext cx="2628900" cy="685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50" name="flow-lane-mark-2"/>
          <p:cNvSpPr/>
          <p:nvPr/>
        </p:nvSpPr>
        <p:spPr>
          <a:xfrm>
            <a:off x="6762750" y="2705100"/>
            <a:ext cx="266700" cy="38100"/>
          </a:xfrm>
          <a:prstGeom prst="roundRect">
            <a:avLst/>
          </a:prstGeom>
          <a:solidFill>
            <a:srgbClr val="77A6D9"/>
          </a:solidFill>
          <a:ln>
            <a:noFill/>
          </a:ln>
        </p:spPr>
      </p:sp>
      <p:sp>
        <p:nvSpPr>
          <p:cNvPr id="151" name="flow-lane-head-2"/>
          <p:cNvSpPr/>
          <p:nvPr/>
        </p:nvSpPr>
        <p:spPr>
          <a:xfrm>
            <a:off x="6762750" y="2838450"/>
            <a:ext cx="2266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 b="1">
                <a:solidFill>
                  <a:srgbClr val="F4F8F8"/>
                </a:solidFill>
                <a:latin typeface="Aptos"/>
              </a:defRPr>
            </a:pPr>
            <a:r>
              <a:rPr lang="en-US" sz="1300" b="1">
                <a:solidFill>
                  <a:srgbClr val="F4F8F8"/>
                </a:solidFill>
                <a:latin typeface="Aptos"/>
              </a:rPr>
              <a:t>CUSTOMER BASELINE</a:t>
            </a:r>
            <a:endParaRPr lang="en-US" sz="1300"/>
          </a:p>
        </p:txBody>
      </p:sp>
      <p:sp>
        <p:nvSpPr>
          <p:cNvPr id="152" name="flow-lane-body-2"/>
          <p:cNvSpPr/>
          <p:nvPr/>
        </p:nvSpPr>
        <p:spPr>
          <a:xfrm>
            <a:off x="6762750" y="3048000"/>
            <a:ext cx="2266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>
                <a:solidFill>
                  <a:srgbClr val="A8C1C3"/>
                </a:solidFill>
                <a:latin typeface="Aptos"/>
              </a:defRPr>
            </a:pPr>
            <a:r>
              <a:rPr lang="en-US" sz="1200">
                <a:solidFill>
                  <a:srgbClr val="A8C1C3"/>
                </a:solidFill>
                <a:latin typeface="Aptos"/>
              </a:rPr>
              <a:t>History · deviation · legitimacy</a:t>
            </a:r>
            <a:endParaRPr lang="en-US" sz="1200"/>
          </a:p>
        </p:txBody>
      </p:sp>
      <p:sp>
        <p:nvSpPr>
          <p:cNvPr id="153" name="flow-evidence"/>
          <p:cNvSpPr/>
          <p:nvPr/>
        </p:nvSpPr>
        <p:spPr>
          <a:xfrm>
            <a:off x="9563100" y="2543175"/>
            <a:ext cx="1943100" cy="6858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154" name="flow-evidence-head"/>
          <p:cNvSpPr/>
          <p:nvPr/>
        </p:nvSpPr>
        <p:spPr>
          <a:xfrm>
            <a:off x="9696450" y="2695575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5AD4C7"/>
                </a:solidFill>
                <a:latin typeface="Aptos"/>
              </a:defRPr>
            </a:pPr>
            <a:r>
              <a:rPr lang="en-US" sz="1200" b="1">
                <a:solidFill>
                  <a:srgbClr val="5AD4C7"/>
                </a:solidFill>
                <a:latin typeface="Aptos"/>
              </a:rPr>
              <a:t>EVIDENCE LIBRARIAN</a:t>
            </a:r>
            <a:endParaRPr lang="en-US" sz="1200"/>
          </a:p>
        </p:txBody>
      </p:sp>
      <p:sp>
        <p:nvSpPr>
          <p:cNvPr id="155" name="flow-evidence-body"/>
          <p:cNvSpPr/>
          <p:nvPr/>
        </p:nvSpPr>
        <p:spPr>
          <a:xfrm>
            <a:off x="9696450" y="2943225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Ledger + dissent</a:t>
            </a:r>
            <a:endParaRPr lang="en-US" sz="1300"/>
          </a:p>
        </p:txBody>
      </p:sp>
      <p:sp>
        <p:nvSpPr>
          <p:cNvPr id="156" name="flow-later-kicker"/>
          <p:cNvSpPr/>
          <p:nvPr/>
        </p:nvSpPr>
        <p:spPr>
          <a:xfrm>
            <a:off x="685800" y="3543300"/>
            <a:ext cx="10820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A8C1C3"/>
                </a:solidFill>
                <a:latin typeface="Aptos"/>
              </a:defRPr>
            </a:pPr>
            <a:r>
              <a:rPr lang="en-US" sz="1100" b="1">
                <a:solidFill>
                  <a:srgbClr val="A8C1C3"/>
                </a:solidFill>
                <a:latin typeface="Aptos"/>
              </a:rPr>
              <a:t>CHALLENGE  →  DEFEND  →  GOVERN  →  LEARN</a:t>
            </a:r>
            <a:endParaRPr lang="en-US" sz="1100"/>
          </a:p>
        </p:txBody>
      </p:sp>
      <p:sp>
        <p:nvSpPr>
          <p:cNvPr id="157" name="flow-later-0"/>
          <p:cNvSpPr/>
          <p:nvPr/>
        </p:nvSpPr>
        <p:spPr>
          <a:xfrm>
            <a:off x="685800" y="3819525"/>
            <a:ext cx="1257300" cy="5524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B6A0E8"/>
            </a:solidFill>
            <a:prstDash val="solid"/>
          </a:ln>
        </p:spPr>
      </p:sp>
      <p:sp>
        <p:nvSpPr>
          <p:cNvPr id="158" name="flow-later-label-0"/>
          <p:cNvSpPr/>
          <p:nvPr/>
        </p:nvSpPr>
        <p:spPr>
          <a:xfrm>
            <a:off x="762000" y="3981450"/>
            <a:ext cx="11049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HYPOTHESIS LAB</a:t>
            </a:r>
            <a:endParaRPr lang="en-US" sz="1200"/>
          </a:p>
        </p:txBody>
      </p:sp>
      <p:sp>
        <p:nvSpPr>
          <p:cNvPr id="159" name="flow-later-arrow-0"/>
          <p:cNvSpPr/>
          <p:nvPr/>
        </p:nvSpPr>
        <p:spPr>
          <a:xfrm>
            <a:off x="1981200" y="4076700"/>
            <a:ext cx="114300" cy="2857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60" name="flow-later-1"/>
          <p:cNvSpPr/>
          <p:nvPr/>
        </p:nvSpPr>
        <p:spPr>
          <a:xfrm>
            <a:off x="2114550" y="3819525"/>
            <a:ext cx="1257300" cy="5524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F05A5B"/>
            </a:solidFill>
            <a:prstDash val="solid"/>
          </a:ln>
        </p:spPr>
      </p:sp>
      <p:sp>
        <p:nvSpPr>
          <p:cNvPr id="161" name="flow-later-label-1"/>
          <p:cNvSpPr/>
          <p:nvPr/>
        </p:nvSpPr>
        <p:spPr>
          <a:xfrm>
            <a:off x="2190750" y="3981450"/>
            <a:ext cx="11049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ADVERSARY</a:t>
            </a:r>
            <a:endParaRPr lang="en-US" sz="1200"/>
          </a:p>
        </p:txBody>
      </p:sp>
      <p:sp>
        <p:nvSpPr>
          <p:cNvPr id="162" name="flow-later-arrow-1"/>
          <p:cNvSpPr/>
          <p:nvPr/>
        </p:nvSpPr>
        <p:spPr>
          <a:xfrm>
            <a:off x="3409950" y="4076700"/>
            <a:ext cx="114300" cy="2857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63" name="flow-later-2"/>
          <p:cNvSpPr/>
          <p:nvPr/>
        </p:nvSpPr>
        <p:spPr>
          <a:xfrm>
            <a:off x="3543300" y="3819525"/>
            <a:ext cx="1257300" cy="5524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77A6D9"/>
            </a:solidFill>
            <a:prstDash val="solid"/>
          </a:ln>
        </p:spPr>
      </p:sp>
      <p:sp>
        <p:nvSpPr>
          <p:cNvPr id="164" name="flow-later-label-2"/>
          <p:cNvSpPr/>
          <p:nvPr/>
        </p:nvSpPr>
        <p:spPr>
          <a:xfrm>
            <a:off x="3619500" y="3981450"/>
            <a:ext cx="11049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DEFENSE</a:t>
            </a:r>
            <a:endParaRPr lang="en-US" sz="1200"/>
          </a:p>
        </p:txBody>
      </p:sp>
      <p:sp>
        <p:nvSpPr>
          <p:cNvPr id="165" name="flow-later-arrow-2"/>
          <p:cNvSpPr/>
          <p:nvPr/>
        </p:nvSpPr>
        <p:spPr>
          <a:xfrm>
            <a:off x="4838700" y="4076700"/>
            <a:ext cx="114300" cy="2857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66" name="flow-later-3"/>
          <p:cNvSpPr/>
          <p:nvPr/>
        </p:nvSpPr>
        <p:spPr>
          <a:xfrm>
            <a:off x="4972050" y="3819525"/>
            <a:ext cx="1257300" cy="5524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F4B45B"/>
            </a:solidFill>
            <a:prstDash val="solid"/>
          </a:ln>
        </p:spPr>
      </p:sp>
      <p:sp>
        <p:nvSpPr>
          <p:cNvPr id="167" name="flow-later-label-3"/>
          <p:cNvSpPr/>
          <p:nvPr/>
        </p:nvSpPr>
        <p:spPr>
          <a:xfrm>
            <a:off x="5048250" y="3981450"/>
            <a:ext cx="11049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SIMULATOR</a:t>
            </a:r>
            <a:endParaRPr lang="en-US" sz="1200"/>
          </a:p>
        </p:txBody>
      </p:sp>
      <p:sp>
        <p:nvSpPr>
          <p:cNvPr id="168" name="flow-later-arrow-3"/>
          <p:cNvSpPr/>
          <p:nvPr/>
        </p:nvSpPr>
        <p:spPr>
          <a:xfrm>
            <a:off x="6267450" y="4076700"/>
            <a:ext cx="114300" cy="2857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69" name="flow-later-4"/>
          <p:cNvSpPr/>
          <p:nvPr/>
        </p:nvSpPr>
        <p:spPr>
          <a:xfrm>
            <a:off x="6400800" y="3819525"/>
            <a:ext cx="1257300" cy="5524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170" name="flow-later-label-4"/>
          <p:cNvSpPr/>
          <p:nvPr/>
        </p:nvSpPr>
        <p:spPr>
          <a:xfrm>
            <a:off x="6477000" y="3981450"/>
            <a:ext cx="11049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MODEL JURY</a:t>
            </a:r>
            <a:endParaRPr lang="en-US" sz="1200"/>
          </a:p>
        </p:txBody>
      </p:sp>
      <p:sp>
        <p:nvSpPr>
          <p:cNvPr id="171" name="flow-later-arrow-4"/>
          <p:cNvSpPr/>
          <p:nvPr/>
        </p:nvSpPr>
        <p:spPr>
          <a:xfrm>
            <a:off x="7696200" y="4076700"/>
            <a:ext cx="114300" cy="2857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72" name="flow-later-5"/>
          <p:cNvSpPr/>
          <p:nvPr/>
        </p:nvSpPr>
        <p:spPr>
          <a:xfrm>
            <a:off x="7829550" y="3819525"/>
            <a:ext cx="1257300" cy="5524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B6A0E8"/>
            </a:solidFill>
            <a:prstDash val="solid"/>
          </a:ln>
        </p:spPr>
      </p:sp>
      <p:sp>
        <p:nvSpPr>
          <p:cNvPr id="173" name="flow-later-label-5"/>
          <p:cNvSpPr/>
          <p:nvPr/>
        </p:nvSpPr>
        <p:spPr>
          <a:xfrm>
            <a:off x="7905750" y="3981450"/>
            <a:ext cx="11049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GOVERNANCE</a:t>
            </a:r>
            <a:endParaRPr lang="en-US" sz="1200"/>
          </a:p>
        </p:txBody>
      </p:sp>
      <p:sp>
        <p:nvSpPr>
          <p:cNvPr id="174" name="flow-later-arrow-5"/>
          <p:cNvSpPr/>
          <p:nvPr/>
        </p:nvSpPr>
        <p:spPr>
          <a:xfrm>
            <a:off x="9124950" y="4076700"/>
            <a:ext cx="114300" cy="2857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75" name="flow-later-6"/>
          <p:cNvSpPr/>
          <p:nvPr/>
        </p:nvSpPr>
        <p:spPr>
          <a:xfrm>
            <a:off x="9258300" y="3819525"/>
            <a:ext cx="1257300" cy="5524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176" name="flow-later-label-6"/>
          <p:cNvSpPr/>
          <p:nvPr/>
        </p:nvSpPr>
        <p:spPr>
          <a:xfrm>
            <a:off x="9334500" y="3981450"/>
            <a:ext cx="11049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200" b="1">
                <a:solidFill>
                  <a:srgbClr val="F4F8F8"/>
                </a:solidFill>
                <a:latin typeface="Aptos"/>
              </a:defRPr>
            </a:pPr>
            <a:r>
              <a:rPr lang="en-US" sz="1200" b="1">
                <a:solidFill>
                  <a:srgbClr val="F4F8F8"/>
                </a:solidFill>
                <a:latin typeface="Aptos"/>
              </a:rPr>
              <a:t>PASSPORT</a:t>
            </a:r>
            <a:endParaRPr lang="en-US" sz="1200"/>
          </a:p>
        </p:txBody>
      </p:sp>
      <p:sp>
        <p:nvSpPr>
          <p:cNvPr id="177" name="flow-human"/>
          <p:cNvSpPr/>
          <p:nvPr/>
        </p:nvSpPr>
        <p:spPr>
          <a:xfrm>
            <a:off x="685800" y="4762500"/>
            <a:ext cx="10820400" cy="8763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78" name="pill-HUMAN APPROVAL GATE"/>
          <p:cNvSpPr/>
          <p:nvPr/>
        </p:nvSpPr>
        <p:spPr>
          <a:xfrm>
            <a:off x="895350" y="4943475"/>
            <a:ext cx="1962150" cy="247650"/>
          </a:xfrm>
          <a:prstGeom prst="roundRect">
            <a:avLst/>
          </a:prstGeom>
          <a:solidFill>
            <a:srgbClr val="5AD4C7"/>
          </a:solidFill>
          <a:ln>
            <a:noFill/>
          </a:ln>
        </p:spPr>
      </p:sp>
      <p:sp>
        <p:nvSpPr>
          <p:cNvPr id="179" name="pill-label-HUMAN APPROVAL GATE"/>
          <p:cNvSpPr/>
          <p:nvPr/>
        </p:nvSpPr>
        <p:spPr>
          <a:xfrm>
            <a:off x="971550" y="4991100"/>
            <a:ext cx="18097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000" b="1">
                <a:solidFill>
                  <a:srgbClr val="071B22"/>
                </a:solidFill>
                <a:latin typeface="Aptos"/>
              </a:defRPr>
            </a:pPr>
            <a:r>
              <a:rPr lang="en-US" sz="1000" b="1">
                <a:solidFill>
                  <a:srgbClr val="071B22"/>
                </a:solidFill>
                <a:latin typeface="Aptos"/>
              </a:rPr>
              <a:t>HUMAN APPROVAL GATE</a:t>
            </a:r>
            <a:endParaRPr lang="en-US" sz="1000"/>
          </a:p>
        </p:txBody>
      </p:sp>
      <p:sp>
        <p:nvSpPr>
          <p:cNvPr id="180" name="flow-shadow"/>
          <p:cNvSpPr/>
          <p:nvPr/>
        </p:nvSpPr>
        <p:spPr>
          <a:xfrm>
            <a:off x="3162300" y="49530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600" b="1">
                <a:solidFill>
                  <a:srgbClr val="F4F8F8"/>
                </a:solidFill>
                <a:latin typeface="Aptos"/>
              </a:defRPr>
            </a:pPr>
            <a:r>
              <a:rPr lang="en-US" sz="1600" b="1">
                <a:solidFill>
                  <a:srgbClr val="F4F8F8"/>
                </a:solidFill>
                <a:latin typeface="Aptos"/>
              </a:rPr>
              <a:t>→  SHADOW OBSERVER</a:t>
            </a:r>
            <a:endParaRPr lang="en-US" sz="1600"/>
          </a:p>
        </p:txBody>
      </p:sp>
      <p:sp>
        <p:nvSpPr>
          <p:cNvPr id="181" name="flow-learn"/>
          <p:cNvSpPr/>
          <p:nvPr/>
        </p:nvSpPr>
        <p:spPr>
          <a:xfrm>
            <a:off x="3162300" y="5229225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400">
                <a:solidFill>
                  <a:srgbClr val="A8C1C3"/>
                </a:solidFill>
                <a:latin typeface="Aptos"/>
              </a:defRPr>
            </a:pPr>
            <a:r>
              <a:rPr lang="en-US" sz="1400">
                <a:solidFill>
                  <a:srgbClr val="A8C1C3"/>
                </a:solidFill>
                <a:latin typeface="Aptos"/>
              </a:rPr>
              <a:t>→  OUTCOME LEARNING LOOP  →  next governed test</a:t>
            </a:r>
            <a:endParaRPr lang="en-US" sz="1400"/>
          </a:p>
        </p:txBody>
      </p:sp>
      <p:sp>
        <p:nvSpPr>
          <p:cNvPr id="182" name="flow-safety"/>
          <p:cNvSpPr/>
          <p:nvPr/>
        </p:nvSpPr>
        <p:spPr>
          <a:xfrm>
            <a:off x="8858250" y="4981575"/>
            <a:ext cx="22479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500" b="1">
                <a:solidFill>
                  <a:srgbClr val="F05A5B"/>
                </a:solidFill>
                <a:latin typeface="Aptos"/>
              </a:defRPr>
            </a:pPr>
            <a:r>
              <a:rPr lang="en-US" sz="1500" b="1">
                <a:solidFill>
                  <a:srgbClr val="F05A5B"/>
                </a:solidFill>
                <a:latin typeface="Aptos"/>
              </a:rPr>
              <a:t>NO PRODUCTION
EXECUTION PATH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rgbClr val="0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lide-5-eyebrow"/>
          <p:cNvSpPr/>
          <p:nvPr/>
        </p:nvSpPr>
        <p:spPr>
          <a:xfrm>
            <a:off x="685800" y="3238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5AD4C7"/>
                </a:solidFill>
                <a:latin typeface="Aptos"/>
              </a:defRPr>
            </a:pPr>
            <a:r>
              <a:rPr lang="en-US" sz="1200" b="1">
                <a:solidFill>
                  <a:srgbClr val="5AD4C7"/>
                </a:solidFill>
                <a:latin typeface="Aptos"/>
              </a:rPr>
              <a:t>04 / TECHNOLOGY</a:t>
            </a:r>
            <a:endParaRPr lang="en-US" sz="1200"/>
          </a:p>
        </p:txBody>
      </p:sp>
      <p:sp>
        <p:nvSpPr>
          <p:cNvPr id="184" name="slide-5-title"/>
          <p:cNvSpPr/>
          <p:nvPr/>
        </p:nvSpPr>
        <p:spPr>
          <a:xfrm>
            <a:off x="685800" y="657225"/>
            <a:ext cx="8572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3500" b="1">
                <a:solidFill>
                  <a:srgbClr val="F4F8F8"/>
                </a:solidFill>
                <a:latin typeface="Aptos"/>
              </a:defRPr>
            </a:pPr>
            <a:r>
              <a:rPr lang="en-US" sz="3500" b="1">
                <a:solidFill>
                  <a:srgbClr val="F4F8F8"/>
                </a:solidFill>
                <a:latin typeface="Aptos"/>
              </a:rPr>
              <a:t>Enterprise controls are part of the architecture.</a:t>
            </a:r>
            <a:endParaRPr lang="en-US" sz="3500"/>
          </a:p>
        </p:txBody>
      </p:sp>
      <p:sp>
        <p:nvSpPr>
          <p:cNvPr id="185" name="slide-5-subtitle"/>
          <p:cNvSpPr/>
          <p:nvPr/>
        </p:nvSpPr>
        <p:spPr>
          <a:xfrm>
            <a:off x="8858250" y="666750"/>
            <a:ext cx="2619375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The model explains and challenges deterministic facts; policy controls decide what can happen next.</a:t>
            </a:r>
            <a:endParaRPr lang="en-US" sz="1500"/>
          </a:p>
        </p:txBody>
      </p:sp>
      <p:sp>
        <p:nvSpPr>
          <p:cNvPr id="186" name="slide-5-rule"/>
          <p:cNvSpPr/>
          <p:nvPr/>
        </p:nvSpPr>
        <p:spPr>
          <a:xfrm>
            <a:off x="685800" y="6115050"/>
            <a:ext cx="108204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187" name="slide-5-footer"/>
          <p:cNvSpPr/>
          <p:nvPr/>
        </p:nvSpPr>
        <p:spPr>
          <a:xfrm>
            <a:off x="685800" y="62484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A8C1C3"/>
                </a:solidFill>
                <a:latin typeface="Aptos"/>
              </a:defRPr>
            </a:pPr>
            <a:r>
              <a:rPr lang="en-US" sz="1000" b="1">
                <a:solidFill>
                  <a:srgbClr val="A8C1C3"/>
                </a:solidFill>
                <a:latin typeface="Aptos"/>
              </a:rPr>
              <a:t>FRAUD WAR ROOM  /  FRAUD DEFENSE AUTONOMY ENGINE</a:t>
            </a:r>
            <a:endParaRPr lang="en-US" sz="1000"/>
          </a:p>
        </p:txBody>
      </p:sp>
      <p:sp>
        <p:nvSpPr>
          <p:cNvPr id="188" name="slide-5-number"/>
          <p:cNvSpPr/>
          <p:nvPr/>
        </p:nvSpPr>
        <p:spPr>
          <a:xfrm>
            <a:off x="10858500" y="6248400"/>
            <a:ext cx="6477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000" b="1">
                <a:solidFill>
                  <a:srgbClr val="5AD4C7"/>
                </a:solidFill>
                <a:latin typeface="Aptos"/>
              </a:defRPr>
            </a:pPr>
            <a:r>
              <a:rPr lang="en-US" sz="1000" b="1">
                <a:solidFill>
                  <a:srgbClr val="5AD4C7"/>
                </a:solidFill>
                <a:latin typeface="Aptos"/>
              </a:rPr>
              <a:t>05 / 06</a:t>
            </a:r>
            <a:endParaRPr lang="en-US" sz="1000"/>
          </a:p>
        </p:txBody>
      </p:sp>
      <p:sp>
        <p:nvSpPr>
          <p:cNvPr id="189" name="tech-left-kicker"/>
          <p:cNvSpPr/>
          <p:nvPr/>
        </p:nvSpPr>
        <p:spPr>
          <a:xfrm>
            <a:off x="685800" y="1457325"/>
            <a:ext cx="4953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THE BUILDING BLOCKS</a:t>
            </a:r>
            <a:endParaRPr lang="en-US" sz="1100"/>
          </a:p>
        </p:txBody>
      </p:sp>
      <p:sp>
        <p:nvSpPr>
          <p:cNvPr id="190" name="tech-left-0"/>
          <p:cNvSpPr/>
          <p:nvPr/>
        </p:nvSpPr>
        <p:spPr>
          <a:xfrm>
            <a:off x="685800" y="1809750"/>
            <a:ext cx="5219700" cy="685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91" name="tech-left-mark-0"/>
          <p:cNvSpPr/>
          <p:nvPr/>
        </p:nvSpPr>
        <p:spPr>
          <a:xfrm>
            <a:off x="876300" y="1990725"/>
            <a:ext cx="342900" cy="47625"/>
          </a:xfrm>
          <a:prstGeom prst="roundRect">
            <a:avLst/>
          </a:prstGeom>
          <a:solidFill>
            <a:srgbClr val="5AD4C7"/>
          </a:solidFill>
          <a:ln>
            <a:noFill/>
          </a:ln>
        </p:spPr>
      </p:sp>
      <p:sp>
        <p:nvSpPr>
          <p:cNvPr id="192" name="tech-left-head-0"/>
          <p:cNvSpPr/>
          <p:nvPr/>
        </p:nvSpPr>
        <p:spPr>
          <a:xfrm>
            <a:off x="1409700" y="1943100"/>
            <a:ext cx="4210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NEURO SAN  +  HOCON</a:t>
            </a:r>
            <a:endParaRPr lang="en-US" sz="1700"/>
          </a:p>
        </p:txBody>
      </p:sp>
      <p:sp>
        <p:nvSpPr>
          <p:cNvPr id="193" name="tech-left-body-0"/>
          <p:cNvSpPr/>
          <p:nvPr/>
        </p:nvSpPr>
        <p:spPr>
          <a:xfrm>
            <a:off x="1409700" y="2200275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18-node agent network · explicit handoffs · bounded execution</a:t>
            </a:r>
            <a:endParaRPr lang="en-US" sz="1300"/>
          </a:p>
        </p:txBody>
      </p:sp>
      <p:sp>
        <p:nvSpPr>
          <p:cNvPr id="194" name="tech-left-1"/>
          <p:cNvSpPr/>
          <p:nvPr/>
        </p:nvSpPr>
        <p:spPr>
          <a:xfrm>
            <a:off x="685800" y="2686050"/>
            <a:ext cx="5219700" cy="685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95" name="tech-left-mark-1"/>
          <p:cNvSpPr/>
          <p:nvPr/>
        </p:nvSpPr>
        <p:spPr>
          <a:xfrm>
            <a:off x="876300" y="2867025"/>
            <a:ext cx="342900" cy="47625"/>
          </a:xfrm>
          <a:prstGeom prst="roundRect">
            <a:avLst/>
          </a:prstGeom>
          <a:solidFill>
            <a:srgbClr val="77A6D9"/>
          </a:solidFill>
          <a:ln>
            <a:noFill/>
          </a:ln>
        </p:spPr>
      </p:sp>
      <p:sp>
        <p:nvSpPr>
          <p:cNvPr id="196" name="tech-left-head-1"/>
          <p:cNvSpPr/>
          <p:nvPr/>
        </p:nvSpPr>
        <p:spPr>
          <a:xfrm>
            <a:off x="1409700" y="2819400"/>
            <a:ext cx="4210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PYTHON CODED TOOLS</a:t>
            </a:r>
            <a:endParaRPr lang="en-US" sz="1700"/>
          </a:p>
        </p:txBody>
      </p:sp>
      <p:sp>
        <p:nvSpPr>
          <p:cNvPr id="197" name="tech-left-body-1"/>
          <p:cNvSpPr/>
          <p:nvPr/>
        </p:nvSpPr>
        <p:spPr>
          <a:xfrm>
            <a:off x="1409700" y="3076575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Synthetic data · graph · timeline · risk · simulation · passport</a:t>
            </a:r>
            <a:endParaRPr lang="en-US" sz="1300"/>
          </a:p>
        </p:txBody>
      </p:sp>
      <p:sp>
        <p:nvSpPr>
          <p:cNvPr id="198" name="tech-left-2"/>
          <p:cNvSpPr/>
          <p:nvPr/>
        </p:nvSpPr>
        <p:spPr>
          <a:xfrm>
            <a:off x="685800" y="3562350"/>
            <a:ext cx="5219700" cy="6858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199" name="tech-left-mark-2"/>
          <p:cNvSpPr/>
          <p:nvPr/>
        </p:nvSpPr>
        <p:spPr>
          <a:xfrm>
            <a:off x="876300" y="3743325"/>
            <a:ext cx="342900" cy="47625"/>
          </a:xfrm>
          <a:prstGeom prst="roundRect">
            <a:avLst/>
          </a:prstGeom>
          <a:solidFill>
            <a:srgbClr val="F4B45B"/>
          </a:solidFill>
          <a:ln>
            <a:noFill/>
          </a:ln>
        </p:spPr>
      </p:sp>
      <p:sp>
        <p:nvSpPr>
          <p:cNvPr id="200" name="tech-left-head-2"/>
          <p:cNvSpPr/>
          <p:nvPr/>
        </p:nvSpPr>
        <p:spPr>
          <a:xfrm>
            <a:off x="1409700" y="3695700"/>
            <a:ext cx="4210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CEREBRAS API  /  QWEN 3.8 27B</a:t>
            </a:r>
            <a:endParaRPr lang="en-US" sz="1700"/>
          </a:p>
        </p:txBody>
      </p:sp>
      <p:sp>
        <p:nvSpPr>
          <p:cNvPr id="201" name="tech-left-body-2"/>
          <p:cNvSpPr/>
          <p:nvPr/>
        </p:nvSpPr>
        <p:spPr>
          <a:xfrm>
            <a:off x="1409700" y="3952875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Primary live model when CEREBRAS_API_KEY is configured</a:t>
            </a:r>
            <a:endParaRPr lang="en-US" sz="1300"/>
          </a:p>
        </p:txBody>
      </p:sp>
      <p:sp>
        <p:nvSpPr>
          <p:cNvPr id="202" name="tech-right-kicker"/>
          <p:cNvSpPr/>
          <p:nvPr/>
        </p:nvSpPr>
        <p:spPr>
          <a:xfrm>
            <a:off x="6477000" y="1457325"/>
            <a:ext cx="4953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THE CONTROL PLANE</a:t>
            </a:r>
            <a:endParaRPr lang="en-US" sz="1100"/>
          </a:p>
        </p:txBody>
      </p:sp>
      <p:sp>
        <p:nvSpPr>
          <p:cNvPr id="203" name="tech-right-0"/>
          <p:cNvSpPr/>
          <p:nvPr/>
        </p:nvSpPr>
        <p:spPr>
          <a:xfrm>
            <a:off x="6477000" y="1809750"/>
            <a:ext cx="5029200" cy="6858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B6A0E8"/>
            </a:solidFill>
            <a:prstDash val="solid"/>
          </a:ln>
        </p:spPr>
      </p:sp>
      <p:sp>
        <p:nvSpPr>
          <p:cNvPr id="204" name="tech-right-head-0"/>
          <p:cNvSpPr/>
          <p:nvPr/>
        </p:nvSpPr>
        <p:spPr>
          <a:xfrm>
            <a:off x="6705600" y="1943100"/>
            <a:ext cx="447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B6A0E8"/>
                </a:solidFill>
                <a:latin typeface="Aptos"/>
              </a:defRPr>
            </a:pPr>
            <a:r>
              <a:rPr lang="en-US" sz="1700" b="1">
                <a:solidFill>
                  <a:srgbClr val="B6A0E8"/>
                </a:solidFill>
                <a:latin typeface="Aptos"/>
              </a:rPr>
              <a:t>INDEPENDENT MODEL JURY</a:t>
            </a:r>
            <a:endParaRPr lang="en-US" sz="1700"/>
          </a:p>
        </p:txBody>
      </p:sp>
      <p:sp>
        <p:nvSpPr>
          <p:cNvPr id="205" name="tech-right-body-0"/>
          <p:cNvSpPr/>
          <p:nvPr/>
        </p:nvSpPr>
        <p:spPr>
          <a:xfrm>
            <a:off x="6705600" y="2200275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Disagreement is visible; it is never silently averaged away.</a:t>
            </a:r>
            <a:endParaRPr lang="en-US" sz="1300"/>
          </a:p>
        </p:txBody>
      </p:sp>
      <p:sp>
        <p:nvSpPr>
          <p:cNvPr id="206" name="tech-right-1"/>
          <p:cNvSpPr/>
          <p:nvPr/>
        </p:nvSpPr>
        <p:spPr>
          <a:xfrm>
            <a:off x="6477000" y="2686050"/>
            <a:ext cx="5029200" cy="6858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207" name="tech-right-head-1"/>
          <p:cNvSpPr/>
          <p:nvPr/>
        </p:nvSpPr>
        <p:spPr>
          <a:xfrm>
            <a:off x="6705600" y="2819400"/>
            <a:ext cx="447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5AD4C7"/>
                </a:solidFill>
                <a:latin typeface="Aptos"/>
              </a:defRPr>
            </a:pPr>
            <a:r>
              <a:rPr lang="en-US" sz="1700" b="1">
                <a:solidFill>
                  <a:srgbClr val="5AD4C7"/>
                </a:solidFill>
                <a:latin typeface="Aptos"/>
              </a:rPr>
              <a:t>GOVERNANCE GATE</a:t>
            </a:r>
            <a:endParaRPr lang="en-US" sz="1700"/>
          </a:p>
        </p:txBody>
      </p:sp>
      <p:sp>
        <p:nvSpPr>
          <p:cNvPr id="208" name="tech-right-body-1"/>
          <p:cNvSpPr/>
          <p:nvPr/>
        </p:nvSpPr>
        <p:spPr>
          <a:xfrm>
            <a:off x="6705600" y="3076575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Evidence, proportionality, simulation, and approval checks stay explicit.</a:t>
            </a:r>
            <a:endParaRPr lang="en-US" sz="1300"/>
          </a:p>
        </p:txBody>
      </p:sp>
      <p:sp>
        <p:nvSpPr>
          <p:cNvPr id="209" name="tech-right-2"/>
          <p:cNvSpPr/>
          <p:nvPr/>
        </p:nvSpPr>
        <p:spPr>
          <a:xfrm>
            <a:off x="6477000" y="3562350"/>
            <a:ext cx="5029200" cy="6858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F05A5B"/>
            </a:solidFill>
            <a:prstDash val="solid"/>
          </a:ln>
        </p:spPr>
      </p:sp>
      <p:sp>
        <p:nvSpPr>
          <p:cNvPr id="210" name="tech-right-head-2"/>
          <p:cNvSpPr/>
          <p:nvPr/>
        </p:nvSpPr>
        <p:spPr>
          <a:xfrm>
            <a:off x="6705600" y="3695700"/>
            <a:ext cx="447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05A5B"/>
                </a:solidFill>
                <a:latin typeface="Aptos"/>
              </a:defRPr>
            </a:pPr>
            <a:r>
              <a:rPr lang="en-US" sz="1700" b="1">
                <a:solidFill>
                  <a:srgbClr val="F05A5B"/>
                </a:solidFill>
                <a:latin typeface="Aptos"/>
              </a:rPr>
              <a:t>HUMAN  →  SHADOW  →  LEARN</a:t>
            </a:r>
            <a:endParaRPr lang="en-US" sz="1700"/>
          </a:p>
        </p:txBody>
      </p:sp>
      <p:sp>
        <p:nvSpPr>
          <p:cNvPr id="211" name="tech-right-body-2"/>
          <p:cNvSpPr/>
          <p:nvPr/>
        </p:nvSpPr>
        <p:spPr>
          <a:xfrm>
            <a:off x="6705600" y="3952875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Approval is required; observation stays bounded; learning cannot edit production rules.</a:t>
            </a:r>
            <a:endParaRPr lang="en-US" sz="1300"/>
          </a:p>
        </p:txBody>
      </p:sp>
      <p:sp>
        <p:nvSpPr>
          <p:cNvPr id="212" name="tech-tags"/>
          <p:cNvSpPr/>
          <p:nvPr/>
        </p:nvSpPr>
        <p:spPr>
          <a:xfrm>
            <a:off x="685800" y="4705350"/>
            <a:ext cx="10820400" cy="100965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213" name="tech-tags-kicker"/>
          <p:cNvSpPr/>
          <p:nvPr/>
        </p:nvSpPr>
        <p:spPr>
          <a:xfrm>
            <a:off x="914400" y="4895850"/>
            <a:ext cx="14097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A8C1C3"/>
                </a:solidFill>
                <a:latin typeface="Aptos"/>
              </a:defRPr>
            </a:pPr>
            <a:r>
              <a:rPr lang="en-US" sz="1000" b="1">
                <a:solidFill>
                  <a:srgbClr val="A8C1C3"/>
                </a:solidFill>
                <a:latin typeface="Aptos"/>
              </a:rPr>
              <a:t>STACK</a:t>
            </a:r>
            <a:endParaRPr lang="en-US" sz="1000"/>
          </a:p>
        </p:txBody>
      </p:sp>
      <p:sp>
        <p:nvSpPr>
          <p:cNvPr id="214" name="tech-tags-copy"/>
          <p:cNvSpPr/>
          <p:nvPr/>
        </p:nvSpPr>
        <p:spPr>
          <a:xfrm>
            <a:off x="914400" y="5191125"/>
            <a:ext cx="10382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Neuro SAN   ·   HOCON   ·   Python   ·   Cerebras   ·   Qwen 3.8 27B   ·   JSON Passport   ·   Synthetic Benchmark</a:t>
            </a:r>
            <a:endParaRPr lang="en-US" sz="1700"/>
          </a:p>
        </p:txBody>
      </p:sp>
      <p:sp>
        <p:nvSpPr>
          <p:cNvPr id="215" name="tech-tags-safeguards"/>
          <p:cNvSpPr/>
          <p:nvPr/>
        </p:nvSpPr>
        <p:spPr>
          <a:xfrm>
            <a:off x="914400" y="5476875"/>
            <a:ext cx="10382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>
                <a:solidFill>
                  <a:srgbClr val="5AD4C7"/>
                </a:solidFill>
                <a:latin typeface="Aptos"/>
              </a:defRPr>
            </a:pPr>
            <a:r>
              <a:rPr lang="en-US" sz="1200">
                <a:solidFill>
                  <a:srgbClr val="5AD4C7"/>
                </a:solidFill>
                <a:latin typeface="Aptos"/>
              </a:rPr>
              <a:t>Provider timeout 8s  ·  disagreement threshold 0.18  ·  no secrets in registry  ·  no chain-of-thought stored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rgbClr val="0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-6-eyebrow"/>
          <p:cNvSpPr/>
          <p:nvPr/>
        </p:nvSpPr>
        <p:spPr>
          <a:xfrm>
            <a:off x="685800" y="3238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200" b="1">
                <a:solidFill>
                  <a:srgbClr val="5AD4C7"/>
                </a:solidFill>
                <a:latin typeface="Aptos"/>
              </a:defRPr>
            </a:pPr>
            <a:r>
              <a:rPr lang="en-US" sz="1200" b="1">
                <a:solidFill>
                  <a:srgbClr val="5AD4C7"/>
                </a:solidFill>
                <a:latin typeface="Aptos"/>
              </a:rPr>
              <a:t>05 / LIVE DEMO + IMPACT</a:t>
            </a:r>
            <a:endParaRPr lang="en-US" sz="1200"/>
          </a:p>
        </p:txBody>
      </p:sp>
      <p:sp>
        <p:nvSpPr>
          <p:cNvPr id="217" name="slide-6-title"/>
          <p:cNvSpPr/>
          <p:nvPr/>
        </p:nvSpPr>
        <p:spPr>
          <a:xfrm>
            <a:off x="685800" y="657225"/>
            <a:ext cx="8572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3500" b="1">
                <a:solidFill>
                  <a:srgbClr val="F4F8F8"/>
                </a:solidFill>
                <a:latin typeface="Aptos"/>
              </a:defRPr>
            </a:pPr>
            <a:r>
              <a:rPr lang="en-US" sz="3500" b="1">
                <a:solidFill>
                  <a:srgbClr val="F4F8F8"/>
                </a:solidFill>
                <a:latin typeface="Aptos"/>
              </a:rPr>
              <a:t>The demo ends with a controlled learning loop.</a:t>
            </a:r>
            <a:endParaRPr lang="en-US" sz="3500"/>
          </a:p>
        </p:txBody>
      </p:sp>
      <p:sp>
        <p:nvSpPr>
          <p:cNvPr id="218" name="slide-6-subtitle"/>
          <p:cNvSpPr/>
          <p:nvPr/>
        </p:nvSpPr>
        <p:spPr>
          <a:xfrm>
            <a:off x="8858250" y="666750"/>
            <a:ext cx="2619375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500">
                <a:solidFill>
                  <a:srgbClr val="A8C1C3"/>
                </a:solidFill>
                <a:latin typeface="Aptos"/>
              </a:defRPr>
            </a:pPr>
            <a:r>
              <a:rPr lang="en-US" sz="1500">
                <a:solidFill>
                  <a:srgbClr val="A8C1C3"/>
                </a:solidFill>
                <a:latin typeface="Aptos"/>
              </a:rPr>
              <a:t>The system earns autonomy one governed step at a time.</a:t>
            </a:r>
            <a:endParaRPr lang="en-US" sz="1500"/>
          </a:p>
        </p:txBody>
      </p:sp>
      <p:sp>
        <p:nvSpPr>
          <p:cNvPr id="219" name="slide-6-rule"/>
          <p:cNvSpPr/>
          <p:nvPr/>
        </p:nvSpPr>
        <p:spPr>
          <a:xfrm>
            <a:off x="685800" y="6115050"/>
            <a:ext cx="108204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220" name="slide-6-footer"/>
          <p:cNvSpPr/>
          <p:nvPr/>
        </p:nvSpPr>
        <p:spPr>
          <a:xfrm>
            <a:off x="685800" y="62484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000" b="1">
                <a:solidFill>
                  <a:srgbClr val="A8C1C3"/>
                </a:solidFill>
                <a:latin typeface="Aptos"/>
              </a:defRPr>
            </a:pPr>
            <a:r>
              <a:rPr lang="en-US" sz="1000" b="1">
                <a:solidFill>
                  <a:srgbClr val="A8C1C3"/>
                </a:solidFill>
                <a:latin typeface="Aptos"/>
              </a:rPr>
              <a:t>FRAUD WAR ROOM  /  FRAUD DEFENSE AUTONOMY ENGINE</a:t>
            </a:r>
            <a:endParaRPr lang="en-US" sz="1000"/>
          </a:p>
        </p:txBody>
      </p:sp>
      <p:sp>
        <p:nvSpPr>
          <p:cNvPr id="221" name="slide-6-number"/>
          <p:cNvSpPr/>
          <p:nvPr/>
        </p:nvSpPr>
        <p:spPr>
          <a:xfrm>
            <a:off x="10858500" y="6248400"/>
            <a:ext cx="6477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r">
              <a:defRPr sz="1000" b="1">
                <a:solidFill>
                  <a:srgbClr val="5AD4C7"/>
                </a:solidFill>
                <a:latin typeface="Aptos"/>
              </a:defRPr>
            </a:pPr>
            <a:r>
              <a:rPr lang="en-US" sz="1000" b="1">
                <a:solidFill>
                  <a:srgbClr val="5AD4C7"/>
                </a:solidFill>
                <a:latin typeface="Aptos"/>
              </a:rPr>
              <a:t>06 / 06</a:t>
            </a:r>
            <a:endParaRPr lang="en-US" sz="1000"/>
          </a:p>
        </p:txBody>
      </p:sp>
      <p:sp>
        <p:nvSpPr>
          <p:cNvPr id="222" name="demo-left-kicker"/>
          <p:cNvSpPr/>
          <p:nvPr/>
        </p:nvSpPr>
        <p:spPr>
          <a:xfrm>
            <a:off x="685800" y="1447800"/>
            <a:ext cx="5238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FIVE MOVES FOR THE JUDGES</a:t>
            </a:r>
            <a:endParaRPr lang="en-US" sz="1100"/>
          </a:p>
        </p:txBody>
      </p:sp>
      <p:sp>
        <p:nvSpPr>
          <p:cNvPr id="223" name="demo-num-01"/>
          <p:cNvSpPr/>
          <p:nvPr/>
        </p:nvSpPr>
        <p:spPr>
          <a:xfrm>
            <a:off x="685800" y="1781175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F05A5B"/>
                </a:solidFill>
                <a:latin typeface="Aptos"/>
              </a:defRPr>
            </a:pPr>
            <a:r>
              <a:rPr lang="en-US" sz="1100" b="1">
                <a:solidFill>
                  <a:srgbClr val="F05A5B"/>
                </a:solidFill>
                <a:latin typeface="Aptos"/>
              </a:rPr>
              <a:t>01</a:t>
            </a:r>
            <a:endParaRPr lang="en-US" sz="1100"/>
          </a:p>
        </p:txBody>
      </p:sp>
      <p:sp>
        <p:nvSpPr>
          <p:cNvPr id="224" name="demo-head-01"/>
          <p:cNvSpPr/>
          <p:nvPr/>
        </p:nvSpPr>
        <p:spPr>
          <a:xfrm>
            <a:off x="1181100" y="1752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Open CASE-0001</a:t>
            </a:r>
            <a:endParaRPr lang="en-US" sz="1700"/>
          </a:p>
        </p:txBody>
      </p:sp>
      <p:sp>
        <p:nvSpPr>
          <p:cNvPr id="225" name="demo-body-01"/>
          <p:cNvSpPr/>
          <p:nvPr/>
        </p:nvSpPr>
        <p:spPr>
          <a:xfrm>
            <a:off x="3333750" y="1762125"/>
            <a:ext cx="242887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See the coordinated campaign, timeline, graph, and evidence.</a:t>
            </a:r>
            <a:endParaRPr lang="en-US" sz="1300"/>
          </a:p>
        </p:txBody>
      </p:sp>
      <p:sp>
        <p:nvSpPr>
          <p:cNvPr id="226" name="demo-rule-01"/>
          <p:cNvSpPr/>
          <p:nvPr/>
        </p:nvSpPr>
        <p:spPr>
          <a:xfrm>
            <a:off x="685800" y="2190750"/>
            <a:ext cx="50673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227" name="demo-num-02"/>
          <p:cNvSpPr/>
          <p:nvPr/>
        </p:nvSpPr>
        <p:spPr>
          <a:xfrm>
            <a:off x="685800" y="2466975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B6A0E8"/>
                </a:solidFill>
                <a:latin typeface="Aptos"/>
              </a:defRPr>
            </a:pPr>
            <a:r>
              <a:rPr lang="en-US" sz="1100" b="1">
                <a:solidFill>
                  <a:srgbClr val="B6A0E8"/>
                </a:solidFill>
                <a:latin typeface="Aptos"/>
              </a:rPr>
              <a:t>02</a:t>
            </a:r>
            <a:endParaRPr lang="en-US" sz="1100"/>
          </a:p>
        </p:txBody>
      </p:sp>
      <p:sp>
        <p:nvSpPr>
          <p:cNvPr id="228" name="demo-head-02"/>
          <p:cNvSpPr/>
          <p:nvPr/>
        </p:nvSpPr>
        <p:spPr>
          <a:xfrm>
            <a:off x="1181100" y="24384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Inspect the challenge</a:t>
            </a:r>
            <a:endParaRPr lang="en-US" sz="1700"/>
          </a:p>
        </p:txBody>
      </p:sp>
      <p:sp>
        <p:nvSpPr>
          <p:cNvPr id="229" name="demo-body-02"/>
          <p:cNvSpPr/>
          <p:nvPr/>
        </p:nvSpPr>
        <p:spPr>
          <a:xfrm>
            <a:off x="3333750" y="2447925"/>
            <a:ext cx="242887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Compare competing hypotheses and the attacker variant.</a:t>
            </a:r>
            <a:endParaRPr lang="en-US" sz="1300"/>
          </a:p>
        </p:txBody>
      </p:sp>
      <p:sp>
        <p:nvSpPr>
          <p:cNvPr id="230" name="demo-rule-02"/>
          <p:cNvSpPr/>
          <p:nvPr/>
        </p:nvSpPr>
        <p:spPr>
          <a:xfrm>
            <a:off x="685800" y="2876550"/>
            <a:ext cx="50673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231" name="demo-num-03"/>
          <p:cNvSpPr/>
          <p:nvPr/>
        </p:nvSpPr>
        <p:spPr>
          <a:xfrm>
            <a:off x="685800" y="3152775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77A6D9"/>
                </a:solidFill>
                <a:latin typeface="Aptos"/>
              </a:defRPr>
            </a:pPr>
            <a:r>
              <a:rPr lang="en-US" sz="1100" b="1">
                <a:solidFill>
                  <a:srgbClr val="77A6D9"/>
                </a:solidFill>
                <a:latin typeface="Aptos"/>
              </a:rPr>
              <a:t>03</a:t>
            </a:r>
            <a:endParaRPr lang="en-US" sz="1100"/>
          </a:p>
        </p:txBody>
      </p:sp>
      <p:sp>
        <p:nvSpPr>
          <p:cNvPr id="232" name="demo-head-03"/>
          <p:cNvSpPr/>
          <p:nvPr/>
        </p:nvSpPr>
        <p:spPr>
          <a:xfrm>
            <a:off x="1181100" y="31242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Choose the defense</a:t>
            </a:r>
            <a:endParaRPr lang="en-US" sz="1700"/>
          </a:p>
        </p:txBody>
      </p:sp>
      <p:sp>
        <p:nvSpPr>
          <p:cNvPr id="233" name="demo-body-03"/>
          <p:cNvSpPr/>
          <p:nvPr/>
        </p:nvSpPr>
        <p:spPr>
          <a:xfrm>
            <a:off x="3333750" y="3133725"/>
            <a:ext cx="242887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See prevention, step-up, hold, and review trade-offs.</a:t>
            </a:r>
            <a:endParaRPr lang="en-US" sz="1300"/>
          </a:p>
        </p:txBody>
      </p:sp>
      <p:sp>
        <p:nvSpPr>
          <p:cNvPr id="234" name="demo-rule-03"/>
          <p:cNvSpPr/>
          <p:nvPr/>
        </p:nvSpPr>
        <p:spPr>
          <a:xfrm>
            <a:off x="685800" y="3562350"/>
            <a:ext cx="50673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235" name="demo-num-04"/>
          <p:cNvSpPr/>
          <p:nvPr/>
        </p:nvSpPr>
        <p:spPr>
          <a:xfrm>
            <a:off x="685800" y="3838575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04</a:t>
            </a:r>
            <a:endParaRPr lang="en-US" sz="1100"/>
          </a:p>
        </p:txBody>
      </p:sp>
      <p:sp>
        <p:nvSpPr>
          <p:cNvPr id="236" name="demo-head-04"/>
          <p:cNvSpPr/>
          <p:nvPr/>
        </p:nvSpPr>
        <p:spPr>
          <a:xfrm>
            <a:off x="1181100" y="38100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Approve into SHADOW</a:t>
            </a:r>
            <a:endParaRPr lang="en-US" sz="1700"/>
          </a:p>
        </p:txBody>
      </p:sp>
      <p:sp>
        <p:nvSpPr>
          <p:cNvPr id="237" name="demo-body-04"/>
          <p:cNvSpPr/>
          <p:nvPr/>
        </p:nvSpPr>
        <p:spPr>
          <a:xfrm>
            <a:off x="3333750" y="3819525"/>
            <a:ext cx="242887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A human action is required; nothing ships to production.</a:t>
            </a:r>
            <a:endParaRPr lang="en-US" sz="1300"/>
          </a:p>
        </p:txBody>
      </p:sp>
      <p:sp>
        <p:nvSpPr>
          <p:cNvPr id="238" name="demo-rule-04"/>
          <p:cNvSpPr/>
          <p:nvPr/>
        </p:nvSpPr>
        <p:spPr>
          <a:xfrm>
            <a:off x="685800" y="4248150"/>
            <a:ext cx="50673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239" name="demo-num-05"/>
          <p:cNvSpPr/>
          <p:nvPr/>
        </p:nvSpPr>
        <p:spPr>
          <a:xfrm>
            <a:off x="685800" y="4524375"/>
            <a:ext cx="323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F4B45B"/>
                </a:solidFill>
                <a:latin typeface="Aptos"/>
              </a:defRPr>
            </a:pPr>
            <a:r>
              <a:rPr lang="en-US" sz="1100" b="1">
                <a:solidFill>
                  <a:srgbClr val="F4B45B"/>
                </a:solidFill>
                <a:latin typeface="Aptos"/>
              </a:rPr>
              <a:t>05</a:t>
            </a:r>
            <a:endParaRPr lang="en-US" sz="1100"/>
          </a:p>
        </p:txBody>
      </p:sp>
      <p:sp>
        <p:nvSpPr>
          <p:cNvPr id="240" name="demo-head-05"/>
          <p:cNvSpPr/>
          <p:nvPr/>
        </p:nvSpPr>
        <p:spPr>
          <a:xfrm>
            <a:off x="1181100" y="44958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 b="1">
                <a:solidFill>
                  <a:srgbClr val="F4F8F8"/>
                </a:solidFill>
                <a:latin typeface="Aptos"/>
              </a:defRPr>
            </a:pPr>
            <a:r>
              <a:rPr lang="en-US" sz="1700" b="1">
                <a:solidFill>
                  <a:srgbClr val="F4F8F8"/>
                </a:solidFill>
                <a:latin typeface="Aptos"/>
              </a:rPr>
              <a:t>Advance the attacker</a:t>
            </a:r>
            <a:endParaRPr lang="en-US" sz="1700"/>
          </a:p>
        </p:txBody>
      </p:sp>
      <p:sp>
        <p:nvSpPr>
          <p:cNvPr id="241" name="demo-body-05"/>
          <p:cNvSpPr/>
          <p:nvPr/>
        </p:nvSpPr>
        <p:spPr>
          <a:xfrm>
            <a:off x="3333750" y="4505325"/>
            <a:ext cx="242887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300">
                <a:solidFill>
                  <a:srgbClr val="A8C1C3"/>
                </a:solidFill>
                <a:latin typeface="Aptos"/>
              </a:defRPr>
            </a:pPr>
            <a:r>
              <a:rPr lang="en-US" sz="1300">
                <a:solidFill>
                  <a:srgbClr val="A8C1C3"/>
                </a:solidFill>
                <a:latin typeface="Aptos"/>
              </a:rPr>
              <a:t>Observe bypass or containment and propose the next test.</a:t>
            </a:r>
            <a:endParaRPr lang="en-US" sz="1300"/>
          </a:p>
        </p:txBody>
      </p:sp>
      <p:sp>
        <p:nvSpPr>
          <p:cNvPr id="242" name="demo-rule-05"/>
          <p:cNvSpPr/>
          <p:nvPr/>
        </p:nvSpPr>
        <p:spPr>
          <a:xfrm>
            <a:off x="685800" y="4933950"/>
            <a:ext cx="5067300" cy="9525"/>
          </a:xfrm>
          <a:prstGeom prst="roundRect">
            <a:avLst/>
          </a:prstGeom>
          <a:solidFill>
            <a:srgbClr val="2A535C"/>
          </a:solidFill>
          <a:ln>
            <a:noFill/>
          </a:ln>
        </p:spPr>
      </p:sp>
      <p:sp>
        <p:nvSpPr>
          <p:cNvPr id="243" name="demo-impact"/>
          <p:cNvSpPr/>
          <p:nvPr/>
        </p:nvSpPr>
        <p:spPr>
          <a:xfrm>
            <a:off x="6667500" y="1695450"/>
            <a:ext cx="4838700" cy="3086100"/>
          </a:xfrm>
          <a:prstGeom prst="roundRect">
            <a:avLst/>
          </a:prstGeom>
          <a:solidFill>
            <a:srgbClr val="12343E"/>
          </a:solidFill>
          <a:ln w="9525">
            <a:solidFill>
              <a:srgbClr val="5AD4C7"/>
            </a:solidFill>
            <a:prstDash val="solid"/>
          </a:ln>
        </p:spPr>
      </p:sp>
      <p:sp>
        <p:nvSpPr>
          <p:cNvPr id="244" name="demo-impact-kicker"/>
          <p:cNvSpPr/>
          <p:nvPr/>
        </p:nvSpPr>
        <p:spPr>
          <a:xfrm>
            <a:off x="6972300" y="1981200"/>
            <a:ext cx="4000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WHY IT IS DIFFERENT</a:t>
            </a:r>
            <a:endParaRPr lang="en-US" sz="1100"/>
          </a:p>
        </p:txBody>
      </p:sp>
      <p:sp>
        <p:nvSpPr>
          <p:cNvPr id="245" name="demo-impact-title"/>
          <p:cNvSpPr/>
          <p:nvPr/>
        </p:nvSpPr>
        <p:spPr>
          <a:xfrm>
            <a:off x="6972300" y="2343150"/>
            <a:ext cx="390525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2900" b="1">
                <a:solidFill>
                  <a:srgbClr val="F4F8F8"/>
                </a:solidFill>
                <a:latin typeface="Aptos"/>
              </a:defRPr>
            </a:pPr>
            <a:r>
              <a:rPr lang="en-US" sz="2900" b="1">
                <a:solidFill>
                  <a:srgbClr val="F4F8F8"/>
                </a:solidFill>
                <a:latin typeface="Aptos"/>
              </a:rPr>
              <a:t>The attacker is part of the design loop.</a:t>
            </a:r>
            <a:endParaRPr lang="en-US" sz="2900"/>
          </a:p>
        </p:txBody>
      </p:sp>
      <p:sp>
        <p:nvSpPr>
          <p:cNvPr id="246" name="demo-impact-body"/>
          <p:cNvSpPr/>
          <p:nvPr/>
        </p:nvSpPr>
        <p:spPr>
          <a:xfrm>
            <a:off x="6972300" y="3276600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700">
                <a:solidFill>
                  <a:srgbClr val="A8C1C3"/>
                </a:solidFill>
                <a:latin typeface="Aptos"/>
              </a:defRPr>
            </a:pPr>
            <a:r>
              <a:rPr lang="en-US" sz="1700">
                <a:solidFill>
                  <a:srgbClr val="A8C1C3"/>
                </a:solidFill>
                <a:latin typeface="Aptos"/>
              </a:rPr>
              <a:t>A defense is only ready for a decision after it has been explained, challenged, simulated, governed, and approved.</a:t>
            </a:r>
            <a:endParaRPr lang="en-US" sz="1700"/>
          </a:p>
        </p:txBody>
      </p:sp>
      <p:sp>
        <p:nvSpPr>
          <p:cNvPr id="247" name="pill-18 NODES"/>
          <p:cNvSpPr/>
          <p:nvPr/>
        </p:nvSpPr>
        <p:spPr>
          <a:xfrm>
            <a:off x="6972300" y="4171950"/>
            <a:ext cx="1295400" cy="247650"/>
          </a:xfrm>
          <a:prstGeom prst="roundRect">
            <a:avLst/>
          </a:prstGeom>
          <a:solidFill>
            <a:srgbClr val="5AD4C7"/>
          </a:solidFill>
          <a:ln>
            <a:noFill/>
          </a:ln>
        </p:spPr>
      </p:sp>
      <p:sp>
        <p:nvSpPr>
          <p:cNvPr id="248" name="pill-label-18 NODES"/>
          <p:cNvSpPr/>
          <p:nvPr/>
        </p:nvSpPr>
        <p:spPr>
          <a:xfrm>
            <a:off x="7048500" y="4219575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000" b="1">
                <a:solidFill>
                  <a:srgbClr val="071B22"/>
                </a:solidFill>
                <a:latin typeface="Aptos"/>
              </a:defRPr>
            </a:pPr>
            <a:r>
              <a:rPr lang="en-US" sz="1000" b="1">
                <a:solidFill>
                  <a:srgbClr val="071B22"/>
                </a:solidFill>
                <a:latin typeface="Aptos"/>
              </a:rPr>
              <a:t>18 NODES</a:t>
            </a:r>
            <a:endParaRPr lang="en-US" sz="1000"/>
          </a:p>
        </p:txBody>
      </p:sp>
      <p:sp>
        <p:nvSpPr>
          <p:cNvPr id="249" name="pill-17 HANDOFFS"/>
          <p:cNvSpPr/>
          <p:nvPr/>
        </p:nvSpPr>
        <p:spPr>
          <a:xfrm>
            <a:off x="8401050" y="4171950"/>
            <a:ext cx="1295400" cy="247650"/>
          </a:xfrm>
          <a:prstGeom prst="roundRect">
            <a:avLst/>
          </a:prstGeom>
          <a:solidFill>
            <a:srgbClr val="77A6D9"/>
          </a:solidFill>
          <a:ln>
            <a:noFill/>
          </a:ln>
        </p:spPr>
      </p:sp>
      <p:sp>
        <p:nvSpPr>
          <p:cNvPr id="250" name="pill-label-17 HANDOFFS"/>
          <p:cNvSpPr/>
          <p:nvPr/>
        </p:nvSpPr>
        <p:spPr>
          <a:xfrm>
            <a:off x="8477250" y="4219575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000" b="1">
                <a:solidFill>
                  <a:srgbClr val="071B22"/>
                </a:solidFill>
                <a:latin typeface="Aptos"/>
              </a:defRPr>
            </a:pPr>
            <a:r>
              <a:rPr lang="en-US" sz="1000" b="1">
                <a:solidFill>
                  <a:srgbClr val="071B22"/>
                </a:solidFill>
                <a:latin typeface="Aptos"/>
              </a:rPr>
              <a:t>17 HANDOFFS</a:t>
            </a:r>
            <a:endParaRPr lang="en-US" sz="1000"/>
          </a:p>
        </p:txBody>
      </p:sp>
      <p:sp>
        <p:nvSpPr>
          <p:cNvPr id="251" name="pill-0 PROD ACTION"/>
          <p:cNvSpPr/>
          <p:nvPr/>
        </p:nvSpPr>
        <p:spPr>
          <a:xfrm>
            <a:off x="9829800" y="4171950"/>
            <a:ext cx="1295400" cy="247650"/>
          </a:xfrm>
          <a:prstGeom prst="roundRect">
            <a:avLst/>
          </a:prstGeom>
          <a:solidFill>
            <a:srgbClr val="F05A5B"/>
          </a:solidFill>
          <a:ln>
            <a:noFill/>
          </a:ln>
        </p:spPr>
      </p:sp>
      <p:sp>
        <p:nvSpPr>
          <p:cNvPr id="252" name="pill-label-0 PROD ACTION"/>
          <p:cNvSpPr/>
          <p:nvPr/>
        </p:nvSpPr>
        <p:spPr>
          <a:xfrm>
            <a:off x="9906000" y="4219575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c">
              <a:defRPr sz="1000" b="1">
                <a:solidFill>
                  <a:srgbClr val="071B22"/>
                </a:solidFill>
                <a:latin typeface="Aptos"/>
              </a:defRPr>
            </a:pPr>
            <a:r>
              <a:rPr lang="en-US" sz="1000" b="1">
                <a:solidFill>
                  <a:srgbClr val="071B22"/>
                </a:solidFill>
                <a:latin typeface="Aptos"/>
              </a:rPr>
              <a:t>0 PROD ACTION</a:t>
            </a:r>
            <a:endParaRPr lang="en-US" sz="1000"/>
          </a:p>
        </p:txBody>
      </p:sp>
      <p:sp>
        <p:nvSpPr>
          <p:cNvPr id="253" name="demo-cta"/>
          <p:cNvSpPr/>
          <p:nvPr/>
        </p:nvSpPr>
        <p:spPr>
          <a:xfrm>
            <a:off x="685800" y="5219700"/>
            <a:ext cx="10820400" cy="571500"/>
          </a:xfrm>
          <a:prstGeom prst="roundRect">
            <a:avLst/>
          </a:prstGeom>
          <a:solidFill>
            <a:srgbClr val="0D2932"/>
          </a:solidFill>
          <a:ln w="9525">
            <a:solidFill>
              <a:srgbClr val="2A535C"/>
            </a:solidFill>
            <a:prstDash val="solid"/>
          </a:ln>
        </p:spPr>
      </p:sp>
      <p:sp>
        <p:nvSpPr>
          <p:cNvPr id="254" name="demo-cta-kicker"/>
          <p:cNvSpPr/>
          <p:nvPr/>
        </p:nvSpPr>
        <p:spPr>
          <a:xfrm>
            <a:off x="914400" y="53911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100" b="1">
                <a:solidFill>
                  <a:srgbClr val="5AD4C7"/>
                </a:solidFill>
                <a:latin typeface="Aptos"/>
              </a:defRPr>
            </a:pPr>
            <a:r>
              <a:rPr lang="en-US" sz="1100" b="1">
                <a:solidFill>
                  <a:srgbClr val="5AD4C7"/>
                </a:solidFill>
                <a:latin typeface="Aptos"/>
              </a:rPr>
              <a:t>NEXT STEP</a:t>
            </a:r>
            <a:endParaRPr lang="en-US" sz="1100"/>
          </a:p>
        </p:txBody>
      </p:sp>
      <p:sp>
        <p:nvSpPr>
          <p:cNvPr id="255" name="demo-cta-copy"/>
          <p:cNvSpPr/>
          <p:nvPr/>
        </p:nvSpPr>
        <p:spPr>
          <a:xfrm>
            <a:off x="2476500" y="5372100"/>
            <a:ext cx="83248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rmAutofit/>
          </a:bodyPr>
          <a:lstStyle/>
          <a:p>
            <a:pPr algn="l">
              <a:defRPr sz="1900" b="1">
                <a:solidFill>
                  <a:srgbClr val="F4F8F8"/>
                </a:solidFill>
                <a:latin typeface="Aptos"/>
              </a:defRPr>
            </a:pPr>
            <a:r>
              <a:rPr lang="en-US" sz="1900" b="1">
                <a:solidFill>
                  <a:srgbClr val="F4F8F8"/>
                </a:solidFill>
                <a:latin typeface="Aptos"/>
              </a:rPr>
              <a:t>Open the War Room. Investigate CASE-0001. Watch the defense earn the right to act.</a:t>
            </a:r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War Room">
  <a:themeElements>
    <a:clrScheme name="Fraud War Room">
      <a:dk1>
        <a:srgbClr val="071B22"/>
      </a:dk1>
      <a:lt1>
        <a:srgbClr val="F4F8F8"/>
      </a:lt1>
      <a:dk2>
        <a:srgbClr val="0D2932"/>
      </a:dk2>
      <a:lt2>
        <a:srgbClr val="A8C1C3"/>
      </a:lt2>
      <a:accent1>
        <a:srgbClr val="5AD4C7"/>
      </a:accent1>
      <a:accent2>
        <a:srgbClr val="F05A5B"/>
      </a:accent2>
      <a:accent3>
        <a:srgbClr val="F4B45B"/>
      </a:accent3>
      <a:accent4>
        <a:srgbClr val="77A6D9"/>
      </a:accent4>
      <a:accent5>
        <a:srgbClr val="B6A0E8"/>
      </a:accent5>
      <a:accent6>
        <a:srgbClr val="2A535C"/>
      </a:accent6>
      <a:hlink>
        <a:srgbClr val="5AD4C7"/>
      </a:hlink>
      <a:folHlink>
        <a:srgbClr val="B6A0E8"/>
      </a:folHlink>
    </a:clrScheme>
    <a:fontScheme name="Fraud War Room">
      <a:majorFont>
        <a:latin typeface="Aptos Display"/>
      </a:majorFont>
      <a:minorFont>
        <a:latin typeface="Aptos"/>
      </a:minorFont>
    </a:fontScheme>
    <a:fmtScheme name="Fraud War Room">
      <a:fillStyleLst/>
      <a:lnStyleLst/>
      <a:effectStyleLst/>
      <a:bgFillStyleLst/>
    </a:fmtScheme>
  </a:themeElements>
</a:theme>
</file>